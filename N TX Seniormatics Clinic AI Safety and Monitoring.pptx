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73" r:id="rId4"/>
    <p:sldId id="270" r:id="rId5"/>
    <p:sldId id="262" r:id="rId6"/>
    <p:sldId id="263" r:id="rId7"/>
    <p:sldId id="259" r:id="rId8"/>
    <p:sldId id="274" r:id="rId9"/>
    <p:sldId id="275" r:id="rId10"/>
    <p:sldId id="264" r:id="rId11"/>
    <p:sldId id="265" r:id="rId12"/>
    <p:sldId id="276" r:id="rId13"/>
    <p:sldId id="267" r:id="rId14"/>
    <p:sldId id="269" r:id="rId15"/>
    <p:sldId id="277" r:id="rId16"/>
  </p:sldIdLst>
  <p:sldSz cx="18288000" cy="10287000"/>
  <p:notesSz cx="6858000" cy="9144000"/>
  <p:embeddedFontLst>
    <p:embeddedFont>
      <p:font typeface="Bebas Neue Cyrillic" panose="020B0604020202020204" charset="0"/>
      <p:regular r:id="rId18"/>
    </p:embeddedFont>
    <p:embeddedFont>
      <p:font typeface="Karma" panose="020B0604020202020204" charset="0"/>
      <p:regular r:id="rId19"/>
    </p:embeddedFont>
    <p:embeddedFont>
      <p:font typeface="Karma Bold" panose="020B060402020202020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66A"/>
    <a:srgbClr val="DCDCDC"/>
    <a:srgbClr val="DBDBDB"/>
    <a:srgbClr val="D6E3EA"/>
    <a:srgbClr val="9CBBCC"/>
    <a:srgbClr val="8AAEC2"/>
    <a:srgbClr val="EBE6DC"/>
    <a:srgbClr val="FCD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663142-D70D-4492-9659-E22FC3884FC0}" v="2" dt="2026-04-08T22:24:51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 autoAdjust="0"/>
    <p:restoredTop sz="94626" autoAdjust="0"/>
  </p:normalViewPr>
  <p:slideViewPr>
    <p:cSldViewPr>
      <p:cViewPr>
        <p:scale>
          <a:sx n="25" d="100"/>
          <a:sy n="25" d="100"/>
        </p:scale>
        <p:origin x="1668" y="1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Ferring" userId="b7b7e278f7b5b2dc" providerId="LiveId" clId="{44EA4B7A-1D12-431A-8E96-D2FE84DA5E6D}"/>
    <pc:docChg chg="undo redo custSel modSld">
      <pc:chgData name="David Ferring" userId="b7b7e278f7b5b2dc" providerId="LiveId" clId="{44EA4B7A-1D12-431A-8E96-D2FE84DA5E6D}" dt="2026-04-08T22:27:09.150" v="335" actId="12789"/>
      <pc:docMkLst>
        <pc:docMk/>
      </pc:docMkLst>
      <pc:sldChg chg="addSp delSp modSp mod">
        <pc:chgData name="David Ferring" userId="b7b7e278f7b5b2dc" providerId="LiveId" clId="{44EA4B7A-1D12-431A-8E96-D2FE84DA5E6D}" dt="2026-04-08T22:16:04.554" v="109" actId="1076"/>
        <pc:sldMkLst>
          <pc:docMk/>
          <pc:sldMk cId="0" sldId="256"/>
        </pc:sldMkLst>
        <pc:spChg chg="mod modVis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6" creationId="{00000000-0000-0000-0000-000000000000}"/>
          </ac:spMkLst>
        </pc:spChg>
        <pc:spChg chg="mod modVis">
          <ac:chgData name="David Ferring" userId="b7b7e278f7b5b2dc" providerId="LiveId" clId="{44EA4B7A-1D12-431A-8E96-D2FE84DA5E6D}" dt="2026-04-08T22:13:15.311" v="58" actId="14429"/>
          <ac:spMkLst>
            <pc:docMk/>
            <pc:sldMk cId="0" sldId="256"/>
            <ac:spMk id="9" creationId="{00000000-0000-0000-0000-000000000000}"/>
          </ac:spMkLst>
        </pc:spChg>
        <pc:spChg chg="mod modVis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13" creationId="{00000000-0000-0000-0000-000000000000}"/>
          </ac:spMkLst>
        </pc:spChg>
        <pc:spChg chg="mod modVis">
          <ac:chgData name="David Ferring" userId="b7b7e278f7b5b2dc" providerId="LiveId" clId="{44EA4B7A-1D12-431A-8E96-D2FE84DA5E6D}" dt="2026-04-08T22:14:39.345" v="96" actId="1076"/>
          <ac:spMkLst>
            <pc:docMk/>
            <pc:sldMk cId="0" sldId="256"/>
            <ac:spMk id="15" creationId="{00000000-0000-0000-0000-000000000000}"/>
          </ac:spMkLst>
        </pc:spChg>
        <pc:spChg chg="mod modVis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16" creationId="{00000000-0000-0000-0000-000000000000}"/>
          </ac:spMkLst>
        </pc:spChg>
        <pc:spChg chg="mod modVis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21" creationId="{00000000-0000-0000-0000-000000000000}"/>
          </ac:spMkLst>
        </pc:spChg>
        <pc:spChg chg="mod modVis">
          <ac:chgData name="David Ferring" userId="b7b7e278f7b5b2dc" providerId="LiveId" clId="{44EA4B7A-1D12-431A-8E96-D2FE84DA5E6D}" dt="2026-04-08T22:15:21.890" v="107" actId="1038"/>
          <ac:spMkLst>
            <pc:docMk/>
            <pc:sldMk cId="0" sldId="256"/>
            <ac:spMk id="25" creationId="{0296D5F7-4B7F-A3E2-E3AC-75B142B7F0D9}"/>
          </ac:spMkLst>
        </pc:spChg>
        <pc:spChg chg="mod modVis">
          <ac:chgData name="David Ferring" userId="b7b7e278f7b5b2dc" providerId="LiveId" clId="{44EA4B7A-1D12-431A-8E96-D2FE84DA5E6D}" dt="2026-04-08T22:16:04.554" v="109" actId="1076"/>
          <ac:spMkLst>
            <pc:docMk/>
            <pc:sldMk cId="0" sldId="256"/>
            <ac:spMk id="26" creationId="{62E44DD7-8079-D2AC-A305-1BB751B405AC}"/>
          </ac:spMkLst>
        </pc:spChg>
        <pc:grpChg chg="mod modVis">
          <ac:chgData name="David Ferring" userId="b7b7e278f7b5b2dc" providerId="LiveId" clId="{44EA4B7A-1D12-431A-8E96-D2FE84DA5E6D}" dt="2026-04-08T22:13:13.543" v="56" actId="14429"/>
          <ac:grpSpMkLst>
            <pc:docMk/>
            <pc:sldMk cId="0" sldId="256"/>
            <ac:grpSpMk id="8" creationId="{00000000-0000-0000-0000-000000000000}"/>
          </ac:grpSpMkLst>
        </pc:grpChg>
        <pc:grpChg chg="mod modVis">
          <ac:chgData name="David Ferring" userId="b7b7e278f7b5b2dc" providerId="LiveId" clId="{44EA4B7A-1D12-431A-8E96-D2FE84DA5E6D}" dt="2026-04-08T22:13:16.999" v="60" actId="14429"/>
          <ac:grpSpMkLst>
            <pc:docMk/>
            <pc:sldMk cId="0" sldId="256"/>
            <ac:grpSpMk id="10" creationId="{00000000-0000-0000-0000-000000000000}"/>
          </ac:grpSpMkLst>
        </pc:grpChg>
        <pc:grpChg chg="mod modVis">
          <ac:chgData name="David Ferring" userId="b7b7e278f7b5b2dc" providerId="LiveId" clId="{44EA4B7A-1D12-431A-8E96-D2FE84DA5E6D}" dt="2026-04-08T22:15:21.890" v="107" actId="1038"/>
          <ac:grpSpMkLst>
            <pc:docMk/>
            <pc:sldMk cId="0" sldId="256"/>
            <ac:grpSpMk id="18" creationId="{00000000-0000-0000-0000-000000000000}"/>
          </ac:grpSpMkLst>
        </pc:grpChg>
        <pc:picChg chg="add del mod">
          <ac:chgData name="David Ferring" userId="b7b7e278f7b5b2dc" providerId="LiveId" clId="{44EA4B7A-1D12-431A-8E96-D2FE84DA5E6D}" dt="2026-04-08T22:10:31.421" v="4" actId="478"/>
          <ac:picMkLst>
            <pc:docMk/>
            <pc:sldMk cId="0" sldId="256"/>
            <ac:picMk id="28" creationId="{D5996032-3BDF-16FF-D1B6-7EA236875E2C}"/>
          </ac:picMkLst>
        </pc:picChg>
        <pc:picChg chg="add mod modVis">
          <ac:chgData name="David Ferring" userId="b7b7e278f7b5b2dc" providerId="LiveId" clId="{44EA4B7A-1D12-431A-8E96-D2FE84DA5E6D}" dt="2026-04-08T22:14:45.481" v="97" actId="1076"/>
          <ac:picMkLst>
            <pc:docMk/>
            <pc:sldMk cId="0" sldId="256"/>
            <ac:picMk id="30" creationId="{23BCB732-B72C-FEAF-A0E4-E98E566312BA}"/>
          </ac:picMkLst>
        </pc:picChg>
      </pc:sldChg>
      <pc:sldChg chg="addSp delSp modSp mod">
        <pc:chgData name="David Ferring" userId="b7b7e278f7b5b2dc" providerId="LiveId" clId="{44EA4B7A-1D12-431A-8E96-D2FE84DA5E6D}" dt="2026-04-08T22:27:09.150" v="335" actId="12789"/>
        <pc:sldMkLst>
          <pc:docMk/>
          <pc:sldMk cId="3168181552" sldId="277"/>
        </pc:sldMkLst>
        <pc:spChg chg="mod">
          <ac:chgData name="David Ferring" userId="b7b7e278f7b5b2dc" providerId="LiveId" clId="{44EA4B7A-1D12-431A-8E96-D2FE84DA5E6D}" dt="2026-04-08T22:23:14.888" v="265" actId="1036"/>
          <ac:spMkLst>
            <pc:docMk/>
            <pc:sldMk cId="3168181552" sldId="277"/>
            <ac:spMk id="3" creationId="{EF2D8B5E-9342-9E98-10F7-838E6C8F59B6}"/>
          </ac:spMkLst>
        </pc:spChg>
        <pc:spChg chg="del">
          <ac:chgData name="David Ferring" userId="b7b7e278f7b5b2dc" providerId="LiveId" clId="{44EA4B7A-1D12-431A-8E96-D2FE84DA5E6D}" dt="2026-04-08T22:16:18.418" v="110" actId="478"/>
          <ac:spMkLst>
            <pc:docMk/>
            <pc:sldMk cId="3168181552" sldId="277"/>
            <ac:spMk id="4" creationId="{D51CC410-2502-399D-8EB7-2D26BAC11A40}"/>
          </ac:spMkLst>
        </pc:spChg>
        <pc:spChg chg="mod">
          <ac:chgData name="David Ferring" userId="b7b7e278f7b5b2dc" providerId="LiveId" clId="{44EA4B7A-1D12-431A-8E96-D2FE84DA5E6D}" dt="2026-04-08T22:22:13.735" v="232" actId="1076"/>
          <ac:spMkLst>
            <pc:docMk/>
            <pc:sldMk cId="3168181552" sldId="277"/>
            <ac:spMk id="5" creationId="{EF5C8A02-BEA6-FC04-C315-FBC665B7FF19}"/>
          </ac:spMkLst>
        </pc:spChg>
        <pc:spChg chg="mod">
          <ac:chgData name="David Ferring" userId="b7b7e278f7b5b2dc" providerId="LiveId" clId="{44EA4B7A-1D12-431A-8E96-D2FE84DA5E6D}" dt="2026-04-08T22:22:13.735" v="232" actId="1076"/>
          <ac:spMkLst>
            <pc:docMk/>
            <pc:sldMk cId="3168181552" sldId="277"/>
            <ac:spMk id="6" creationId="{922F61AE-7496-F521-1846-339D18D9C31F}"/>
          </ac:spMkLst>
        </pc:spChg>
        <pc:spChg chg="mod">
          <ac:chgData name="David Ferring" userId="b7b7e278f7b5b2dc" providerId="LiveId" clId="{44EA4B7A-1D12-431A-8E96-D2FE84DA5E6D}" dt="2026-04-08T22:22:13.735" v="232" actId="1076"/>
          <ac:spMkLst>
            <pc:docMk/>
            <pc:sldMk cId="3168181552" sldId="277"/>
            <ac:spMk id="8" creationId="{98A49C90-4DD4-AD07-F933-F08189169BCD}"/>
          </ac:spMkLst>
        </pc:spChg>
        <pc:spChg chg="mod">
          <ac:chgData name="David Ferring" userId="b7b7e278f7b5b2dc" providerId="LiveId" clId="{44EA4B7A-1D12-431A-8E96-D2FE84DA5E6D}" dt="2026-04-08T22:22:13.735" v="232" actId="1076"/>
          <ac:spMkLst>
            <pc:docMk/>
            <pc:sldMk cId="3168181552" sldId="277"/>
            <ac:spMk id="13" creationId="{4004DB45-C308-BF50-4AFC-92E18703E553}"/>
          </ac:spMkLst>
        </pc:spChg>
        <pc:spChg chg="del mod">
          <ac:chgData name="David Ferring" userId="b7b7e278f7b5b2dc" providerId="LiveId" clId="{44EA4B7A-1D12-431A-8E96-D2FE84DA5E6D}" dt="2026-04-08T22:19:21.525" v="153" actId="478"/>
          <ac:spMkLst>
            <pc:docMk/>
            <pc:sldMk cId="3168181552" sldId="277"/>
            <ac:spMk id="59" creationId="{DDE6FB83-53BE-3B8D-0B64-5580195F91A1}"/>
          </ac:spMkLst>
        </pc:spChg>
        <pc:spChg chg="del">
          <ac:chgData name="David Ferring" userId="b7b7e278f7b5b2dc" providerId="LiveId" clId="{44EA4B7A-1D12-431A-8E96-D2FE84DA5E6D}" dt="2026-04-08T22:19:27.989" v="154" actId="478"/>
          <ac:spMkLst>
            <pc:docMk/>
            <pc:sldMk cId="3168181552" sldId="277"/>
            <ac:spMk id="60" creationId="{97CC52BC-120A-6809-25B7-DB85D2318C08}"/>
          </ac:spMkLst>
        </pc:spChg>
        <pc:spChg chg="mod">
          <ac:chgData name="David Ferring" userId="b7b7e278f7b5b2dc" providerId="LiveId" clId="{44EA4B7A-1D12-431A-8E96-D2FE84DA5E6D}" dt="2026-04-08T22:27:09.150" v="335" actId="12789"/>
          <ac:spMkLst>
            <pc:docMk/>
            <pc:sldMk cId="3168181552" sldId="277"/>
            <ac:spMk id="61" creationId="{D1C5EDD8-2F24-F580-B6D0-EF9A38409B23}"/>
          </ac:spMkLst>
        </pc:spChg>
        <pc:spChg chg="del mod ord">
          <ac:chgData name="David Ferring" userId="b7b7e278f7b5b2dc" providerId="LiveId" clId="{44EA4B7A-1D12-431A-8E96-D2FE84DA5E6D}" dt="2026-04-08T22:22:40.632" v="234" actId="478"/>
          <ac:spMkLst>
            <pc:docMk/>
            <pc:sldMk cId="3168181552" sldId="277"/>
            <ac:spMk id="62" creationId="{418B74CD-70C0-07E7-73E2-2C4D9A68908C}"/>
          </ac:spMkLst>
        </pc:spChg>
        <pc:spChg chg="del mod ord">
          <ac:chgData name="David Ferring" userId="b7b7e278f7b5b2dc" providerId="LiveId" clId="{44EA4B7A-1D12-431A-8E96-D2FE84DA5E6D}" dt="2026-04-08T22:25:06.458" v="283" actId="478"/>
          <ac:spMkLst>
            <pc:docMk/>
            <pc:sldMk cId="3168181552" sldId="277"/>
            <ac:spMk id="68" creationId="{58AB2308-86F7-AB87-582F-C0EC7A9306F8}"/>
          </ac:spMkLst>
        </pc:spChg>
        <pc:spChg chg="add del mod">
          <ac:chgData name="David Ferring" userId="b7b7e278f7b5b2dc" providerId="LiveId" clId="{44EA4B7A-1D12-431A-8E96-D2FE84DA5E6D}" dt="2026-04-08T22:25:08.698" v="284" actId="478"/>
          <ac:spMkLst>
            <pc:docMk/>
            <pc:sldMk cId="3168181552" sldId="277"/>
            <ac:spMk id="77" creationId="{F89F9F13-2CB2-98E8-2BC5-134D6D734186}"/>
          </ac:spMkLst>
        </pc:spChg>
        <pc:grpChg chg="mod ord">
          <ac:chgData name="David Ferring" userId="b7b7e278f7b5b2dc" providerId="LiveId" clId="{44EA4B7A-1D12-431A-8E96-D2FE84DA5E6D}" dt="2026-04-08T22:24:16.553" v="277" actId="1076"/>
          <ac:grpSpMkLst>
            <pc:docMk/>
            <pc:sldMk cId="3168181552" sldId="277"/>
            <ac:grpSpMk id="26" creationId="{15E56F2A-3DB5-2E18-EC4E-6E2B5F5D64BE}"/>
          </ac:grpSpMkLst>
        </pc:grpChg>
        <pc:picChg chg="mod">
          <ac:chgData name="David Ferring" userId="b7b7e278f7b5b2dc" providerId="LiveId" clId="{44EA4B7A-1D12-431A-8E96-D2FE84DA5E6D}" dt="2026-04-08T22:26:04.442" v="308" actId="1036"/>
          <ac:picMkLst>
            <pc:docMk/>
            <pc:sldMk cId="3168181552" sldId="277"/>
            <ac:picMk id="12" creationId="{05FC3E86-8417-4755-DB7B-BE0EC8F1172F}"/>
          </ac:picMkLst>
        </pc:picChg>
        <pc:picChg chg="add mod modVis">
          <ac:chgData name="David Ferring" userId="b7b7e278f7b5b2dc" providerId="LiveId" clId="{44EA4B7A-1D12-431A-8E96-D2FE84DA5E6D}" dt="2026-04-08T22:26:23.258" v="313" actId="1035"/>
          <ac:picMkLst>
            <pc:docMk/>
            <pc:sldMk cId="3168181552" sldId="277"/>
            <ac:picMk id="69" creationId="{187345F9-CE89-5C7D-545F-A42D4FED1524}"/>
          </ac:picMkLst>
        </pc:picChg>
        <pc:cxnChg chg="mod">
          <ac:chgData name="David Ferring" userId="b7b7e278f7b5b2dc" providerId="LiveId" clId="{44EA4B7A-1D12-431A-8E96-D2FE84DA5E6D}" dt="2026-04-08T22:25:46.858" v="290" actId="1036"/>
          <ac:cxnSpMkLst>
            <pc:docMk/>
            <pc:sldMk cId="3168181552" sldId="277"/>
            <ac:cxnSpMk id="15" creationId="{4926BD42-A92F-7D27-B694-4C0896E3BFFE}"/>
          </ac:cxnSpMkLst>
        </pc:cxnChg>
        <pc:cxnChg chg="mod modVis">
          <ac:chgData name="David Ferring" userId="b7b7e278f7b5b2dc" providerId="LiveId" clId="{44EA4B7A-1D12-431A-8E96-D2FE84DA5E6D}" dt="2026-04-08T22:25:46.858" v="290" actId="1036"/>
          <ac:cxnSpMkLst>
            <pc:docMk/>
            <pc:sldMk cId="3168181552" sldId="277"/>
            <ac:cxnSpMk id="16" creationId="{FE6D27C2-44FE-D333-D3D3-24B1717ED05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1D897-224A-4611-8944-85E5CB239F6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C5830-A634-45DA-946D-84902E4EC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5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C5830-A634-45DA-946D-84902E4ECA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5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C5830-A634-45DA-946D-84902E4ECA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95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BDBDB"/>
            </a:gs>
            <a:gs pos="43112">
              <a:srgbClr val="D6E3EA"/>
            </a:gs>
            <a:gs pos="83000">
              <a:srgbClr val="8AAEC2"/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62E44DD7-8079-D2AC-A305-1BB751B405AC}"/>
              </a:ext>
            </a:extLst>
          </p:cNvPr>
          <p:cNvSpPr/>
          <p:nvPr/>
        </p:nvSpPr>
        <p:spPr>
          <a:xfrm>
            <a:off x="-7086600" y="9985846"/>
            <a:ext cx="2933700" cy="2812107"/>
          </a:xfrm>
          <a:prstGeom prst="ellipse">
            <a:avLst/>
          </a:prstGeom>
          <a:solidFill>
            <a:srgbClr val="2A566A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3638480" y="1715683"/>
            <a:ext cx="3556154" cy="355615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-380999" y="-266700"/>
            <a:ext cx="8743204" cy="8534400"/>
            <a:chOff x="0" y="0"/>
            <a:chExt cx="3331210" cy="3331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0" y="0"/>
                  </a:moveTo>
                  <a:lnTo>
                    <a:pt x="3331210" y="0"/>
                  </a:lnTo>
                  <a:cubicBezTo>
                    <a:pt x="3331210" y="1840230"/>
                    <a:pt x="1840230" y="3331210"/>
                    <a:pt x="0" y="3331210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046" b="-25046"/>
              </a:stretch>
            </a:blipFill>
            <a:effectLst>
              <a:softEdge rad="101600"/>
            </a:effec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314700" y="3378330"/>
            <a:ext cx="4416537" cy="44165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25046" b="-25046"/>
              </a:stretch>
            </a:blipFill>
            <a:ln w="348258" cap="sq">
              <a:solidFill>
                <a:srgbClr val="FFFFFF"/>
              </a:solidFill>
              <a:prstDash val="solid"/>
              <a:miter/>
            </a:ln>
            <a:effectLst>
              <a:softEdge rad="190500"/>
            </a:effectLst>
          </p:spPr>
          <p:txBody>
            <a:bodyPr/>
            <a:lstStyle/>
            <a:p>
              <a:endParaRPr lang="en-US" dirty="0"/>
            </a:p>
          </p:txBody>
        </p:sp>
      </p:grpSp>
      <p:sp useBgFill="1">
        <p:nvSpPr>
          <p:cNvPr id="13" name="Freeform 13"/>
          <p:cNvSpPr/>
          <p:nvPr/>
        </p:nvSpPr>
        <p:spPr>
          <a:xfrm>
            <a:off x="15710354" y="9326981"/>
            <a:ext cx="2064919" cy="206491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741806" y="3924356"/>
            <a:ext cx="621237" cy="621237"/>
          </a:xfrm>
          <a:custGeom>
            <a:avLst/>
            <a:gdLst/>
            <a:ahLst/>
            <a:cxnLst/>
            <a:rect l="l" t="t" r="r" b="b"/>
            <a:pathLst>
              <a:path w="621237" h="621237">
                <a:moveTo>
                  <a:pt x="0" y="0"/>
                </a:moveTo>
                <a:lnTo>
                  <a:pt x="621237" y="0"/>
                </a:lnTo>
                <a:lnTo>
                  <a:pt x="621237" y="621237"/>
                </a:lnTo>
                <a:lnTo>
                  <a:pt x="0" y="621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806394" y="8040283"/>
            <a:ext cx="692117" cy="692117"/>
          </a:xfrm>
          <a:custGeom>
            <a:avLst/>
            <a:gdLst/>
            <a:ahLst/>
            <a:cxnLst/>
            <a:rect l="l" t="t" r="r" b="b"/>
            <a:pathLst>
              <a:path w="692117" h="692117">
                <a:moveTo>
                  <a:pt x="0" y="0"/>
                </a:moveTo>
                <a:lnTo>
                  <a:pt x="692117" y="0"/>
                </a:lnTo>
                <a:lnTo>
                  <a:pt x="692117" y="692117"/>
                </a:lnTo>
                <a:lnTo>
                  <a:pt x="0" y="6921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098211" y="2446052"/>
            <a:ext cx="6506139" cy="442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1"/>
              </a:lnSpc>
            </a:pPr>
            <a:r>
              <a:rPr lang="en-US" sz="7864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AI‑Enabled Safety and Communication for Older Adults</a:t>
            </a:r>
          </a:p>
          <a:p>
            <a:pPr algn="l">
              <a:lnSpc>
                <a:spcPts val="8651"/>
              </a:lnSpc>
            </a:pPr>
            <a:endParaRPr lang="en-US" sz="7864" dirty="0">
              <a:solidFill>
                <a:srgbClr val="2A566A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467975" y="5883725"/>
            <a:ext cx="2965027" cy="1613448"/>
            <a:chOff x="0" y="0"/>
            <a:chExt cx="17830800" cy="9702800"/>
          </a:xfrm>
        </p:grpSpPr>
        <p:sp>
          <p:nvSpPr>
            <p:cNvPr id="19" name="Freeform 19" descr=" Grand App Ai"/>
            <p:cNvSpPr/>
            <p:nvPr/>
          </p:nvSpPr>
          <p:spPr>
            <a:xfrm>
              <a:off x="0" y="0"/>
              <a:ext cx="17830800" cy="9702800"/>
            </a:xfrm>
            <a:custGeom>
              <a:avLst/>
              <a:gdLst/>
              <a:ahLst/>
              <a:cxnLst/>
              <a:rect l="l" t="t" r="r" b="b"/>
              <a:pathLst>
                <a:path w="17830800" h="9702800">
                  <a:moveTo>
                    <a:pt x="0" y="0"/>
                  </a:moveTo>
                  <a:lnTo>
                    <a:pt x="17830800" y="0"/>
                  </a:lnTo>
                  <a:lnTo>
                    <a:pt x="17830800" y="9702800"/>
                  </a:lnTo>
                  <a:lnTo>
                    <a:pt x="0" y="970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256811" y="8070230"/>
            <a:ext cx="8508900" cy="254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6"/>
              </a:lnSpc>
            </a:pPr>
            <a:r>
              <a:rPr lang="en-US" sz="5343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TalkAssist       </a:t>
            </a:r>
            <a:r>
              <a:rPr lang="en-US" sz="5343" b="1" dirty="0" err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CareAssist</a:t>
            </a:r>
            <a:endParaRPr lang="en-US" sz="5343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  <a:p>
            <a:pPr algn="l">
              <a:lnSpc>
                <a:spcPts val="4387"/>
              </a:lnSpc>
            </a:pPr>
            <a:endParaRPr lang="en-US" sz="5343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  <a:p>
            <a:pPr algn="l">
              <a:lnSpc>
                <a:spcPts val="4387"/>
              </a:lnSpc>
            </a:pPr>
            <a:endParaRPr lang="en-US" sz="5343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  <a:p>
            <a:pPr algn="l">
              <a:lnSpc>
                <a:spcPts val="4387"/>
              </a:lnSpc>
            </a:pPr>
            <a:endParaRPr lang="en-US" sz="5343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231234" y="9531243"/>
            <a:ext cx="9400510" cy="163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375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Supporting Physicians, Care Teams, and Families</a:t>
            </a:r>
          </a:p>
          <a:p>
            <a:pPr algn="l">
              <a:lnSpc>
                <a:spcPts val="4387"/>
              </a:lnSpc>
            </a:pPr>
            <a:endParaRPr lang="en-US" sz="3375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  <a:p>
            <a:pPr algn="l">
              <a:lnSpc>
                <a:spcPts val="4387"/>
              </a:lnSpc>
            </a:pPr>
            <a:endParaRPr lang="en-US" sz="3375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</p:txBody>
      </p:sp>
      <p:sp useBgFill="1">
        <p:nvSpPr>
          <p:cNvPr id="25" name="Oval 24">
            <a:extLst>
              <a:ext uri="{FF2B5EF4-FFF2-40B4-BE49-F238E27FC236}">
                <a16:creationId xmlns:a16="http://schemas.microsoft.com/office/drawing/2014/main" id="{0296D5F7-4B7F-A3E2-E3AC-75B142B7F0D9}"/>
              </a:ext>
            </a:extLst>
          </p:cNvPr>
          <p:cNvSpPr/>
          <p:nvPr/>
        </p:nvSpPr>
        <p:spPr>
          <a:xfrm>
            <a:off x="15278100" y="5761576"/>
            <a:ext cx="2933700" cy="2812107"/>
          </a:xfrm>
          <a:prstGeom prst="ellipse">
            <a:avLst/>
          </a:prstGeom>
          <a:ln>
            <a:noFill/>
          </a:ln>
          <a:scene3d>
            <a:camera prst="orthographicFront"/>
            <a:lightRig rig="threePt" dir="t"/>
          </a:scene3d>
          <a:sp3d extrusionH="69850" prstMaterial="clear">
            <a:bevelT w="171450" h="1333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3BCB732-B72C-FEAF-A0E4-E98E566312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0501" y="-31631"/>
            <a:ext cx="9316311" cy="2509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BAFE1071-894E-4889-11D7-80CC99270E97}"/>
              </a:ext>
            </a:extLst>
          </p:cNvPr>
          <p:cNvSpPr/>
          <p:nvPr/>
        </p:nvSpPr>
        <p:spPr>
          <a:xfrm>
            <a:off x="478074" y="-1917860"/>
            <a:ext cx="7393018" cy="7086600"/>
          </a:xfrm>
          <a:prstGeom prst="ellipse">
            <a:avLst/>
          </a:prstGeom>
          <a:solidFill>
            <a:srgbClr val="2A566A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911A9E09-754A-DAFF-A738-07EDAB39AC5C}"/>
              </a:ext>
            </a:extLst>
          </p:cNvPr>
          <p:cNvSpPr/>
          <p:nvPr/>
        </p:nvSpPr>
        <p:spPr>
          <a:xfrm>
            <a:off x="9971345" y="599186"/>
            <a:ext cx="3556154" cy="355615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F8228C-AB9F-28FE-F027-2931C451279D}"/>
              </a:ext>
            </a:extLst>
          </p:cNvPr>
          <p:cNvSpPr/>
          <p:nvPr/>
        </p:nvSpPr>
        <p:spPr>
          <a:xfrm>
            <a:off x="-762001" y="3695700"/>
            <a:ext cx="9456089" cy="919370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12E72D-2F27-BF20-4F70-80DC7B675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8656" y="4045374"/>
            <a:ext cx="8953811" cy="8953811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8" name="TextBox 8"/>
          <p:cNvSpPr txBox="1"/>
          <p:nvPr/>
        </p:nvSpPr>
        <p:spPr>
          <a:xfrm>
            <a:off x="1888217" y="81601"/>
            <a:ext cx="4815623" cy="342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8"/>
              </a:lnSpc>
            </a:pPr>
            <a:r>
              <a:rPr lang="en-US" sz="7423" dirty="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The Challenge for families and Physicians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11780" y="2569903"/>
            <a:ext cx="6771474" cy="6114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3423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Seniors spend most of their time outside clinical supervision</a:t>
            </a:r>
          </a:p>
          <a:p>
            <a:pPr algn="l">
              <a:lnSpc>
                <a:spcPts val="4108"/>
              </a:lnSpc>
            </a:pPr>
            <a:endParaRPr lang="en-US" sz="3423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  <a:p>
            <a:pPr algn="l">
              <a:lnSpc>
                <a:spcPts val="4108"/>
              </a:lnSpc>
            </a:pPr>
            <a:r>
              <a:rPr lang="en-US" sz="3423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Early warning signs of decline often appear at home</a:t>
            </a:r>
          </a:p>
          <a:p>
            <a:pPr algn="l">
              <a:lnSpc>
                <a:spcPts val="4108"/>
              </a:lnSpc>
            </a:pPr>
            <a:endParaRPr lang="en-US" sz="3423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  <a:p>
            <a:pPr algn="l">
              <a:lnSpc>
                <a:spcPts val="4108"/>
              </a:lnSpc>
            </a:pPr>
            <a:r>
              <a:rPr lang="en-US" sz="3423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Falls and health events frequently occur between visits</a:t>
            </a:r>
          </a:p>
          <a:p>
            <a:pPr algn="l">
              <a:lnSpc>
                <a:spcPts val="4108"/>
              </a:lnSpc>
            </a:pPr>
            <a:endParaRPr lang="en-US" sz="3423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  <a:p>
            <a:pPr algn="l">
              <a:lnSpc>
                <a:spcPts val="4108"/>
              </a:lnSpc>
            </a:pPr>
            <a:r>
              <a:rPr lang="en-US" sz="3423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Families want independence for loved ones but also reassurance</a:t>
            </a:r>
          </a:p>
          <a:p>
            <a:pPr algn="l">
              <a:lnSpc>
                <a:spcPts val="4108"/>
              </a:lnSpc>
            </a:pPr>
            <a:endParaRPr lang="en-US" sz="3423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004034" y="8877300"/>
            <a:ext cx="2415491" cy="241549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694089" y="2918177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097713" y="8684660"/>
            <a:ext cx="875587" cy="875587"/>
          </a:xfrm>
          <a:custGeom>
            <a:avLst/>
            <a:gdLst/>
            <a:ahLst/>
            <a:cxnLst/>
            <a:rect l="l" t="t" r="r" b="b"/>
            <a:pathLst>
              <a:path w="875587" h="875587">
                <a:moveTo>
                  <a:pt x="0" y="0"/>
                </a:moveTo>
                <a:lnTo>
                  <a:pt x="875587" y="0"/>
                </a:lnTo>
                <a:lnTo>
                  <a:pt x="875587" y="875587"/>
                </a:lnTo>
                <a:lnTo>
                  <a:pt x="0" y="875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 useBgFill="1">
        <p:nvSpPr>
          <p:cNvPr id="25" name="Oval 24">
            <a:extLst>
              <a:ext uri="{FF2B5EF4-FFF2-40B4-BE49-F238E27FC236}">
                <a16:creationId xmlns:a16="http://schemas.microsoft.com/office/drawing/2014/main" id="{13F4B1F0-8B6B-BA8E-639E-6F7BC1C2C07D}"/>
              </a:ext>
            </a:extLst>
          </p:cNvPr>
          <p:cNvSpPr/>
          <p:nvPr/>
        </p:nvSpPr>
        <p:spPr>
          <a:xfrm>
            <a:off x="14535506" y="6310346"/>
            <a:ext cx="2933700" cy="2812107"/>
          </a:xfrm>
          <a:prstGeom prst="ellipse">
            <a:avLst/>
          </a:prstGeom>
          <a:ln>
            <a:noFill/>
          </a:ln>
          <a:scene3d>
            <a:camera prst="orthographicFront"/>
            <a:lightRig rig="threePt" dir="t"/>
          </a:scene3d>
          <a:sp3d extrusionH="69850" prstMaterial="clear">
            <a:bevelT w="171450" h="1333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Freeform 13">
            <a:extLst>
              <a:ext uri="{FF2B5EF4-FFF2-40B4-BE49-F238E27FC236}">
                <a16:creationId xmlns:a16="http://schemas.microsoft.com/office/drawing/2014/main" id="{53C25D4F-C790-5B3B-6BDA-ADA30FCC7607}"/>
              </a:ext>
            </a:extLst>
          </p:cNvPr>
          <p:cNvSpPr/>
          <p:nvPr/>
        </p:nvSpPr>
        <p:spPr>
          <a:xfrm>
            <a:off x="9630674" y="-2199855"/>
            <a:ext cx="10123287" cy="1044494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35" name="Freeform 6">
            <a:extLst>
              <a:ext uri="{FF2B5EF4-FFF2-40B4-BE49-F238E27FC236}">
                <a16:creationId xmlns:a16="http://schemas.microsoft.com/office/drawing/2014/main" id="{A9564ACC-5C6E-9964-95CB-21C2DAE5664D}"/>
              </a:ext>
            </a:extLst>
          </p:cNvPr>
          <p:cNvSpPr/>
          <p:nvPr/>
        </p:nvSpPr>
        <p:spPr>
          <a:xfrm>
            <a:off x="655640" y="1202064"/>
            <a:ext cx="3556154" cy="355615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grpSp>
        <p:nvGrpSpPr>
          <p:cNvPr id="2" name="Group 2"/>
          <p:cNvGrpSpPr/>
          <p:nvPr/>
        </p:nvGrpSpPr>
        <p:grpSpPr>
          <a:xfrm>
            <a:off x="-9028892" y="3876481"/>
            <a:ext cx="5521483" cy="55214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33768" y="1326139"/>
            <a:ext cx="5477719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5"/>
              </a:lnSpc>
            </a:pPr>
            <a:r>
              <a:rPr lang="en-US" sz="8437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 Shared Goal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7554" y="1166320"/>
            <a:ext cx="6554225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800" dirty="0">
                <a:solidFill>
                  <a:srgbClr val="637D8B"/>
                </a:solidFill>
                <a:latin typeface="Bebas Neue Cyrillic"/>
                <a:sym typeface="Karma Bold"/>
              </a:rPr>
              <a:t>Physicians and families want the same outcomes: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9211" y="3123027"/>
            <a:ext cx="6406980" cy="103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Safe independence</a:t>
            </a:r>
          </a:p>
          <a:p>
            <a:pPr algn="just">
              <a:lnSpc>
                <a:spcPts val="4050"/>
              </a:lnSpc>
            </a:pPr>
            <a:endParaRPr lang="en-US" sz="3375" b="1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59211" y="4081786"/>
            <a:ext cx="6471983" cy="103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Early detection of problems</a:t>
            </a:r>
          </a:p>
          <a:p>
            <a:pPr algn="just">
              <a:lnSpc>
                <a:spcPts val="4050"/>
              </a:lnSpc>
            </a:pPr>
            <a:endParaRPr lang="en-US" sz="3375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8158310" y="5098311"/>
            <a:ext cx="4416537" cy="441653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  <a:ln w="348258" cap="sq">
              <a:solidFill>
                <a:srgbClr val="FFFFFF"/>
              </a:solidFill>
              <a:prstDash val="solid"/>
              <a:miter/>
            </a:ln>
            <a:effectLst>
              <a:softEdge rad="177800"/>
            </a:effec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30662" y="-1032460"/>
            <a:ext cx="2064919" cy="206491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58193" y="3065261"/>
            <a:ext cx="373344" cy="37334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58193" y="4081786"/>
            <a:ext cx="373344" cy="37334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2600" y="5098311"/>
            <a:ext cx="373344" cy="37334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3777644" y="8245093"/>
            <a:ext cx="875587" cy="875587"/>
          </a:xfrm>
          <a:custGeom>
            <a:avLst/>
            <a:gdLst/>
            <a:ahLst/>
            <a:cxnLst/>
            <a:rect l="l" t="t" r="r" b="b"/>
            <a:pathLst>
              <a:path w="875587" h="875587">
                <a:moveTo>
                  <a:pt x="0" y="0"/>
                </a:moveTo>
                <a:lnTo>
                  <a:pt x="875587" y="0"/>
                </a:lnTo>
                <a:lnTo>
                  <a:pt x="875587" y="875587"/>
                </a:lnTo>
                <a:lnTo>
                  <a:pt x="0" y="87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7788274" y="2338883"/>
            <a:ext cx="1367469" cy="1367469"/>
          </a:xfrm>
          <a:custGeom>
            <a:avLst/>
            <a:gdLst/>
            <a:ahLst/>
            <a:cxnLst/>
            <a:rect l="l" t="t" r="r" b="b"/>
            <a:pathLst>
              <a:path w="1367469" h="1367469">
                <a:moveTo>
                  <a:pt x="0" y="0"/>
                </a:moveTo>
                <a:lnTo>
                  <a:pt x="1367468" y="0"/>
                </a:lnTo>
                <a:lnTo>
                  <a:pt x="1367468" y="1367469"/>
                </a:lnTo>
                <a:lnTo>
                  <a:pt x="0" y="13674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559211" y="5098311"/>
            <a:ext cx="8779059" cy="103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Reduced hospitalizations</a:t>
            </a:r>
          </a:p>
          <a:p>
            <a:pPr algn="just">
              <a:lnSpc>
                <a:spcPts val="4050"/>
              </a:lnSpc>
            </a:pPr>
            <a:endParaRPr lang="en-US" sz="3375" b="1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758193" y="6114836"/>
            <a:ext cx="373344" cy="37334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69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559211" y="6114836"/>
            <a:ext cx="8779059" cy="522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Better quality of life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EC0FEEA-5A91-0293-9C19-22BF1BADA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1962" y="2621539"/>
            <a:ext cx="6502400" cy="9753600"/>
          </a:xfrm>
          <a:prstGeom prst="rect">
            <a:avLst/>
          </a:prstGeom>
          <a:effectLst>
            <a:softEdge rad="502725"/>
          </a:effectLst>
        </p:spPr>
      </p:pic>
      <p:sp>
        <p:nvSpPr>
          <p:cNvPr id="33" name="Freeform 3">
            <a:extLst>
              <a:ext uri="{FF2B5EF4-FFF2-40B4-BE49-F238E27FC236}">
                <a16:creationId xmlns:a16="http://schemas.microsoft.com/office/drawing/2014/main" id="{AB5FF780-3D1E-B215-ED54-67737ED26DD3}"/>
              </a:ext>
            </a:extLst>
          </p:cNvPr>
          <p:cNvSpPr/>
          <p:nvPr/>
        </p:nvSpPr>
        <p:spPr>
          <a:xfrm>
            <a:off x="-16115424" y="-1345327"/>
            <a:ext cx="5613785" cy="561378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C28A46F-1811-69CA-3957-5E234A9DADBA}"/>
              </a:ext>
            </a:extLst>
          </p:cNvPr>
          <p:cNvSpPr/>
          <p:nvPr/>
        </p:nvSpPr>
        <p:spPr>
          <a:xfrm>
            <a:off x="-9964659" y="-8417097"/>
            <a:ext cx="7393018" cy="7086600"/>
          </a:xfrm>
          <a:prstGeom prst="ellipse">
            <a:avLst/>
          </a:prstGeom>
          <a:solidFill>
            <a:srgbClr val="2A566A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7" name="Group 10">
            <a:extLst>
              <a:ext uri="{FF2B5EF4-FFF2-40B4-BE49-F238E27FC236}">
                <a16:creationId xmlns:a16="http://schemas.microsoft.com/office/drawing/2014/main" id="{B78F534D-5418-7320-E316-36E030E3408F}"/>
              </a:ext>
            </a:extLst>
          </p:cNvPr>
          <p:cNvGrpSpPr/>
          <p:nvPr/>
        </p:nvGrpSpPr>
        <p:grpSpPr>
          <a:xfrm>
            <a:off x="-872480" y="8852625"/>
            <a:ext cx="2415491" cy="2415491"/>
            <a:chOff x="0" y="0"/>
            <a:chExt cx="812800" cy="812800"/>
          </a:xfrm>
        </p:grpSpPr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14FCDD69-B12E-CC8A-2F01-47F182FEEB3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12">
              <a:extLst>
                <a:ext uri="{FF2B5EF4-FFF2-40B4-BE49-F238E27FC236}">
                  <a16:creationId xmlns:a16="http://schemas.microsoft.com/office/drawing/2014/main" id="{C64AA55E-A78F-1028-BEC2-D9666395DF95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 useBgFill="1">
        <p:nvSpPr>
          <p:cNvPr id="40" name="Oval 39">
            <a:extLst>
              <a:ext uri="{FF2B5EF4-FFF2-40B4-BE49-F238E27FC236}">
                <a16:creationId xmlns:a16="http://schemas.microsoft.com/office/drawing/2014/main" id="{1C3554EB-B0AE-8F1E-AEB6-7FC5FA9ECA20}"/>
              </a:ext>
            </a:extLst>
          </p:cNvPr>
          <p:cNvSpPr/>
          <p:nvPr/>
        </p:nvSpPr>
        <p:spPr>
          <a:xfrm>
            <a:off x="14535506" y="6310346"/>
            <a:ext cx="2933700" cy="2812107"/>
          </a:xfrm>
          <a:prstGeom prst="ellipse">
            <a:avLst/>
          </a:prstGeom>
          <a:ln>
            <a:noFill/>
          </a:ln>
          <a:scene3d>
            <a:camera prst="orthographicFront"/>
            <a:lightRig rig="threePt" dir="t"/>
          </a:scene3d>
          <a:sp3d extrusionH="69850" prstMaterial="clear">
            <a:bevelT w="171450" h="1333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Oval 40">
            <a:extLst>
              <a:ext uri="{FF2B5EF4-FFF2-40B4-BE49-F238E27FC236}">
                <a16:creationId xmlns:a16="http://schemas.microsoft.com/office/drawing/2014/main" id="{EC103CAF-CF28-8BF1-D21A-F81289BA107C}"/>
              </a:ext>
            </a:extLst>
          </p:cNvPr>
          <p:cNvSpPr/>
          <p:nvPr/>
        </p:nvSpPr>
        <p:spPr>
          <a:xfrm>
            <a:off x="-1321715" y="6939755"/>
            <a:ext cx="2933700" cy="2812107"/>
          </a:xfrm>
          <a:prstGeom prst="ellipse">
            <a:avLst/>
          </a:prstGeom>
          <a:ln>
            <a:noFill/>
          </a:ln>
          <a:scene3d>
            <a:camera prst="orthographicFront"/>
            <a:lightRig rig="threePt" dir="t"/>
          </a:scene3d>
          <a:sp3d extrusionH="69850" prstMaterial="clear">
            <a:bevelT w="171450" h="1333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66D2-9F6D-5282-8897-D4D50913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Freeform 13">
            <a:extLst>
              <a:ext uri="{FF2B5EF4-FFF2-40B4-BE49-F238E27FC236}">
                <a16:creationId xmlns:a16="http://schemas.microsoft.com/office/drawing/2014/main" id="{D54ACD98-5FD2-8A11-16F5-4CD217E6CD4F}"/>
              </a:ext>
            </a:extLst>
          </p:cNvPr>
          <p:cNvSpPr/>
          <p:nvPr/>
        </p:nvSpPr>
        <p:spPr>
          <a:xfrm>
            <a:off x="1613419" y="-3950839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22" name="Freeform 6">
            <a:extLst>
              <a:ext uri="{FF2B5EF4-FFF2-40B4-BE49-F238E27FC236}">
                <a16:creationId xmlns:a16="http://schemas.microsoft.com/office/drawing/2014/main" id="{C591B51B-8D92-959E-25C6-49B676EF1146}"/>
              </a:ext>
            </a:extLst>
          </p:cNvPr>
          <p:cNvSpPr/>
          <p:nvPr/>
        </p:nvSpPr>
        <p:spPr>
          <a:xfrm>
            <a:off x="-3886200" y="11849100"/>
            <a:ext cx="2657414" cy="265741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4CDD2C-553A-DB8D-54F7-7F37AE234CD3}"/>
              </a:ext>
            </a:extLst>
          </p:cNvPr>
          <p:cNvSpPr txBox="1"/>
          <p:nvPr/>
        </p:nvSpPr>
        <p:spPr>
          <a:xfrm>
            <a:off x="2855221" y="-539984"/>
            <a:ext cx="1677747" cy="16535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99"/>
              </a:lnSpc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1421C1-242F-4ECA-958D-2B38796BDCD8}"/>
              </a:ext>
            </a:extLst>
          </p:cNvPr>
          <p:cNvSpPr/>
          <p:nvPr/>
        </p:nvSpPr>
        <p:spPr>
          <a:xfrm>
            <a:off x="15579375" y="7367540"/>
            <a:ext cx="5121389" cy="4909123"/>
          </a:xfrm>
          <a:prstGeom prst="ellipse">
            <a:avLst/>
          </a:prstGeom>
          <a:solidFill>
            <a:srgbClr val="2A566A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Freeform 6">
            <a:extLst>
              <a:ext uri="{FF2B5EF4-FFF2-40B4-BE49-F238E27FC236}">
                <a16:creationId xmlns:a16="http://schemas.microsoft.com/office/drawing/2014/main" id="{F796ACC4-FF7B-3D65-34C0-767145103CB2}"/>
              </a:ext>
            </a:extLst>
          </p:cNvPr>
          <p:cNvSpPr/>
          <p:nvPr/>
        </p:nvSpPr>
        <p:spPr>
          <a:xfrm>
            <a:off x="11470183" y="-1653255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AB20366-31AA-3C0B-4201-2222BEA48E9D}"/>
              </a:ext>
            </a:extLst>
          </p:cNvPr>
          <p:cNvSpPr/>
          <p:nvPr/>
        </p:nvSpPr>
        <p:spPr>
          <a:xfrm>
            <a:off x="11241803" y="9738563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1AF11EA-C67F-4A7F-4DC0-5117F2B3F075}"/>
              </a:ext>
            </a:extLst>
          </p:cNvPr>
          <p:cNvSpPr/>
          <p:nvPr/>
        </p:nvSpPr>
        <p:spPr>
          <a:xfrm>
            <a:off x="0" y="193393"/>
            <a:ext cx="727821" cy="727821"/>
          </a:xfrm>
          <a:custGeom>
            <a:avLst/>
            <a:gdLst/>
            <a:ahLst/>
            <a:cxnLst/>
            <a:rect l="l" t="t" r="r" b="b"/>
            <a:pathLst>
              <a:path w="727821" h="727821">
                <a:moveTo>
                  <a:pt x="0" y="0"/>
                </a:moveTo>
                <a:lnTo>
                  <a:pt x="727822" y="0"/>
                </a:lnTo>
                <a:lnTo>
                  <a:pt x="727822" y="727821"/>
                </a:lnTo>
                <a:lnTo>
                  <a:pt x="0" y="72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DB31CA-71CE-1DF5-55AC-A2BC49A9EE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3703"/>
          <a:stretch/>
        </p:blipFill>
        <p:spPr>
          <a:xfrm>
            <a:off x="8763000" y="613056"/>
            <a:ext cx="9176403" cy="912550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9F5A8EC-91D9-7648-4DDB-90B74FA526FF}"/>
              </a:ext>
            </a:extLst>
          </p:cNvPr>
          <p:cNvSpPr txBox="1"/>
          <p:nvPr/>
        </p:nvSpPr>
        <p:spPr>
          <a:xfrm>
            <a:off x="547442" y="1115533"/>
            <a:ext cx="8215557" cy="3491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637D8B"/>
                </a:solidFill>
                <a:latin typeface="Bebas Neue Cyrillic"/>
              </a:rPr>
              <a:t>Annual Savings Estimate: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Fall prevention 			$10K–$30K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Reduced home care		$12K–$18K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Avoided hospitalization		$10K–$20K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Family burden reduction	$6K–$15K</a:t>
            </a:r>
          </a:p>
          <a:p>
            <a:r>
              <a:rPr lang="en-US" sz="3423" b="1" dirty="0">
                <a:solidFill>
                  <a:srgbClr val="BC6937"/>
                </a:solidFill>
                <a:latin typeface="Karma"/>
                <a:cs typeface="Karma"/>
              </a:rPr>
              <a:t>Total Annual Impact </a:t>
            </a:r>
            <a:r>
              <a:rPr lang="en-US" sz="3600" b="1" dirty="0">
                <a:solidFill>
                  <a:srgbClr val="BC6937"/>
                </a:solidFill>
                <a:latin typeface="Karma"/>
                <a:cs typeface="Karma"/>
              </a:rPr>
              <a:t>$38,000 – $83,000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1DA243-7113-6225-3238-1709C4CB85C2}"/>
              </a:ext>
            </a:extLst>
          </p:cNvPr>
          <p:cNvSpPr/>
          <p:nvPr/>
        </p:nvSpPr>
        <p:spPr>
          <a:xfrm>
            <a:off x="9982200" y="3771901"/>
            <a:ext cx="3657599" cy="4791786"/>
          </a:xfrm>
          <a:prstGeom prst="rect">
            <a:avLst/>
          </a:prstGeom>
          <a:solidFill>
            <a:schemeClr val="accent1">
              <a:alpha val="358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81EF5D7F-FBB3-8C27-B5C8-3B016CB3D7C9}"/>
              </a:ext>
            </a:extLst>
          </p:cNvPr>
          <p:cNvSpPr/>
          <p:nvPr/>
        </p:nvSpPr>
        <p:spPr>
          <a:xfrm rot="16200000">
            <a:off x="6824307" y="5405792"/>
            <a:ext cx="4791788" cy="1523998"/>
          </a:xfrm>
          <a:prstGeom prst="trapezoid">
            <a:avLst>
              <a:gd name="adj" fmla="val 110383"/>
            </a:avLst>
          </a:prstGeom>
          <a:solidFill>
            <a:schemeClr val="accent1">
              <a:alpha val="3583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6B4D72-A495-2FEC-3ADD-7A960A36A56B}"/>
              </a:ext>
            </a:extLst>
          </p:cNvPr>
          <p:cNvSpPr txBox="1"/>
          <p:nvPr/>
        </p:nvSpPr>
        <p:spPr>
          <a:xfrm>
            <a:off x="491692" y="5379388"/>
            <a:ext cx="8215557" cy="1672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If Grand App extends independent living by just 2–3 years: 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Total savings: $100,000 – $250,000+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A4E3E3-460A-20F4-9C69-F7C8AA479611}"/>
              </a:ext>
            </a:extLst>
          </p:cNvPr>
          <p:cNvSpPr txBox="1"/>
          <p:nvPr/>
        </p:nvSpPr>
        <p:spPr>
          <a:xfrm>
            <a:off x="395044" y="7367540"/>
            <a:ext cx="8215557" cy="2726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23" b="1" dirty="0">
                <a:solidFill>
                  <a:srgbClr val="BC6937"/>
                </a:solidFill>
                <a:latin typeface="Karma"/>
                <a:cs typeface="Karma"/>
              </a:rPr>
              <a:t>Grand App is a cost avoidance system.</a:t>
            </a:r>
          </a:p>
          <a:p>
            <a:endParaRPr lang="en-US" sz="3423" dirty="0">
              <a:solidFill>
                <a:srgbClr val="2A566A"/>
              </a:solidFill>
              <a:latin typeface="Karma"/>
              <a:cs typeface="Karma"/>
            </a:endParaRP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Prevents a $30K fall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Delays $50K/year assisted living</a:t>
            </a:r>
          </a:p>
          <a:p>
            <a:r>
              <a:rPr lang="en-US" sz="3423" dirty="0">
                <a:solidFill>
                  <a:srgbClr val="2A566A"/>
                </a:solidFill>
                <a:latin typeface="Karma"/>
                <a:cs typeface="Karma"/>
              </a:rPr>
              <a:t>Reduces $15K/year in family burden</a:t>
            </a:r>
          </a:p>
        </p:txBody>
      </p:sp>
      <p:sp useBgFill="1">
        <p:nvSpPr>
          <p:cNvPr id="19" name="Freeform 13">
            <a:extLst>
              <a:ext uri="{FF2B5EF4-FFF2-40B4-BE49-F238E27FC236}">
                <a16:creationId xmlns:a16="http://schemas.microsoft.com/office/drawing/2014/main" id="{F31DCAD0-8487-7209-772D-EC2C17BC6A10}"/>
              </a:ext>
            </a:extLst>
          </p:cNvPr>
          <p:cNvSpPr/>
          <p:nvPr/>
        </p:nvSpPr>
        <p:spPr>
          <a:xfrm>
            <a:off x="17995154" y="-5543490"/>
            <a:ext cx="10123287" cy="1044494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1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 animBg="1"/>
      <p:bldP spid="42" grpId="0" animBg="1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Freeform 13">
            <a:extLst>
              <a:ext uri="{FF2B5EF4-FFF2-40B4-BE49-F238E27FC236}">
                <a16:creationId xmlns:a16="http://schemas.microsoft.com/office/drawing/2014/main" id="{0BC91755-BF95-CDA8-2FF4-9EDB90EF7D80}"/>
              </a:ext>
            </a:extLst>
          </p:cNvPr>
          <p:cNvSpPr/>
          <p:nvPr/>
        </p:nvSpPr>
        <p:spPr>
          <a:xfrm>
            <a:off x="9385369" y="653272"/>
            <a:ext cx="985028" cy="9850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21" name="Freeform 13">
            <a:extLst>
              <a:ext uri="{FF2B5EF4-FFF2-40B4-BE49-F238E27FC236}">
                <a16:creationId xmlns:a16="http://schemas.microsoft.com/office/drawing/2014/main" id="{1B972C66-98E7-7BC2-DCD0-2C4FB73A0DA5}"/>
              </a:ext>
            </a:extLst>
          </p:cNvPr>
          <p:cNvSpPr/>
          <p:nvPr/>
        </p:nvSpPr>
        <p:spPr>
          <a:xfrm>
            <a:off x="3483737" y="209956"/>
            <a:ext cx="985028" cy="9850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20" name="Freeform 13">
            <a:extLst>
              <a:ext uri="{FF2B5EF4-FFF2-40B4-BE49-F238E27FC236}">
                <a16:creationId xmlns:a16="http://schemas.microsoft.com/office/drawing/2014/main" id="{7ECD34A6-0BDC-13FA-1488-75CCC37EB56D}"/>
              </a:ext>
            </a:extLst>
          </p:cNvPr>
          <p:cNvSpPr/>
          <p:nvPr/>
        </p:nvSpPr>
        <p:spPr>
          <a:xfrm>
            <a:off x="16190262" y="9021417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13501EA1-28A5-7132-33F0-840AECE2FE1A}"/>
              </a:ext>
            </a:extLst>
          </p:cNvPr>
          <p:cNvSpPr/>
          <p:nvPr/>
        </p:nvSpPr>
        <p:spPr>
          <a:xfrm>
            <a:off x="-12730273" y="-375518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C23649-625B-E922-9AAC-DA199E2FE214}"/>
              </a:ext>
            </a:extLst>
          </p:cNvPr>
          <p:cNvSpPr/>
          <p:nvPr/>
        </p:nvSpPr>
        <p:spPr>
          <a:xfrm>
            <a:off x="11807375" y="209956"/>
            <a:ext cx="5121389" cy="4909123"/>
          </a:xfrm>
          <a:prstGeom prst="ellipse">
            <a:avLst/>
          </a:prstGeom>
          <a:solidFill>
            <a:srgbClr val="2A566A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7914859" y="2664519"/>
            <a:ext cx="4215377" cy="5051395"/>
          </a:xfrm>
          <a:custGeom>
            <a:avLst/>
            <a:gdLst/>
            <a:ahLst/>
            <a:cxnLst/>
            <a:rect l="l" t="t" r="r" b="b"/>
            <a:pathLst>
              <a:path w="4058083" h="4916048">
                <a:moveTo>
                  <a:pt x="0" y="0"/>
                </a:moveTo>
                <a:lnTo>
                  <a:pt x="4058083" y="0"/>
                </a:lnTo>
                <a:lnTo>
                  <a:pt x="4058083" y="4916048"/>
                </a:lnTo>
                <a:lnTo>
                  <a:pt x="0" y="4916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88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2885166" y="3497297"/>
            <a:ext cx="5188159" cy="5524120"/>
            <a:chOff x="0" y="0"/>
            <a:chExt cx="1054884" cy="11231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54884" cy="1123194"/>
            </a:xfrm>
            <a:custGeom>
              <a:avLst/>
              <a:gdLst/>
              <a:ahLst/>
              <a:cxnLst/>
              <a:rect l="l" t="t" r="r" b="b"/>
              <a:pathLst>
                <a:path w="1054884" h="1123194">
                  <a:moveTo>
                    <a:pt x="527442" y="0"/>
                  </a:moveTo>
                  <a:cubicBezTo>
                    <a:pt x="236144" y="0"/>
                    <a:pt x="0" y="251435"/>
                    <a:pt x="0" y="561597"/>
                  </a:cubicBezTo>
                  <a:cubicBezTo>
                    <a:pt x="0" y="871758"/>
                    <a:pt x="236144" y="1123194"/>
                    <a:pt x="527442" y="1123194"/>
                  </a:cubicBezTo>
                  <a:cubicBezTo>
                    <a:pt x="818740" y="1123194"/>
                    <a:pt x="1054884" y="871758"/>
                    <a:pt x="1054884" y="561597"/>
                  </a:cubicBezTo>
                  <a:cubicBezTo>
                    <a:pt x="1054884" y="251435"/>
                    <a:pt x="818740" y="0"/>
                    <a:pt x="527442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895" y="114824"/>
              <a:ext cx="857093" cy="90307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886747" y="2023480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6"/>
                </a:lnTo>
                <a:lnTo>
                  <a:pt x="0" y="1174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817153" y="7310826"/>
            <a:ext cx="626166" cy="626166"/>
          </a:xfrm>
          <a:custGeom>
            <a:avLst/>
            <a:gdLst/>
            <a:ahLst/>
            <a:cxnLst/>
            <a:rect l="l" t="t" r="r" b="b"/>
            <a:pathLst>
              <a:path w="626166" h="626166">
                <a:moveTo>
                  <a:pt x="0" y="0"/>
                </a:moveTo>
                <a:lnTo>
                  <a:pt x="626165" y="0"/>
                </a:lnTo>
                <a:lnTo>
                  <a:pt x="626165" y="626165"/>
                </a:lnTo>
                <a:lnTo>
                  <a:pt x="0" y="626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-457200" y="2664520"/>
            <a:ext cx="8981720" cy="5051395"/>
          </a:xfrm>
          <a:custGeom>
            <a:avLst/>
            <a:gdLst/>
            <a:ahLst/>
            <a:cxnLst/>
            <a:rect l="l" t="t" r="r" b="b"/>
            <a:pathLst>
              <a:path w="8389708" h="5051395">
                <a:moveTo>
                  <a:pt x="0" y="0"/>
                </a:moveTo>
                <a:lnTo>
                  <a:pt x="8389708" y="0"/>
                </a:lnTo>
                <a:lnTo>
                  <a:pt x="8389708" y="5051395"/>
                </a:lnTo>
                <a:lnTo>
                  <a:pt x="0" y="5051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635704" y="488611"/>
            <a:ext cx="7154286" cy="21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3800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Care Assist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07676" y="8159500"/>
            <a:ext cx="1045656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993"/>
              </a:lnSpc>
            </a:pPr>
            <a:r>
              <a:rPr lang="en-US" sz="4161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Proactive monitoring system that identifies changes in health patterns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30236" y="5382025"/>
            <a:ext cx="5334000" cy="2463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r">
              <a:lnSpc>
                <a:spcPts val="4836"/>
              </a:lnSpc>
            </a:pPr>
            <a:r>
              <a:rPr lang="en-US" sz="4030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Designed to detect risks before emergencies occur</a:t>
            </a:r>
          </a:p>
          <a:p>
            <a:pPr algn="l">
              <a:lnSpc>
                <a:spcPts val="4836"/>
              </a:lnSpc>
            </a:pPr>
            <a:endParaRPr lang="en-US" sz="4030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1276378" y="0"/>
            <a:ext cx="6042017" cy="6042017"/>
            <a:chOff x="0" y="0"/>
            <a:chExt cx="3331210" cy="3331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0" y="0"/>
                  </a:moveTo>
                  <a:lnTo>
                    <a:pt x="3331210" y="0"/>
                  </a:lnTo>
                  <a:cubicBezTo>
                    <a:pt x="3331210" y="1840230"/>
                    <a:pt x="1840230" y="3331210"/>
                    <a:pt x="0" y="3331210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4349" r="-243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1">
            <a:extLst>
              <a:ext uri="{FF2B5EF4-FFF2-40B4-BE49-F238E27FC236}">
                <a16:creationId xmlns:a16="http://schemas.microsoft.com/office/drawing/2014/main" id="{28C0746A-B558-72CA-F945-0A92D919E1A7}"/>
              </a:ext>
            </a:extLst>
          </p:cNvPr>
          <p:cNvSpPr/>
          <p:nvPr/>
        </p:nvSpPr>
        <p:spPr>
          <a:xfrm>
            <a:off x="4343400" y="8708334"/>
            <a:ext cx="626166" cy="626166"/>
          </a:xfrm>
          <a:custGeom>
            <a:avLst/>
            <a:gdLst/>
            <a:ahLst/>
            <a:cxnLst/>
            <a:rect l="l" t="t" r="r" b="b"/>
            <a:pathLst>
              <a:path w="626166" h="626166">
                <a:moveTo>
                  <a:pt x="0" y="0"/>
                </a:moveTo>
                <a:lnTo>
                  <a:pt x="626165" y="0"/>
                </a:lnTo>
                <a:lnTo>
                  <a:pt x="626165" y="626165"/>
                </a:lnTo>
                <a:lnTo>
                  <a:pt x="0" y="6261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 useBgFill="1">
        <p:nvSpPr>
          <p:cNvPr id="22" name="Freeform 13">
            <a:extLst>
              <a:ext uri="{FF2B5EF4-FFF2-40B4-BE49-F238E27FC236}">
                <a16:creationId xmlns:a16="http://schemas.microsoft.com/office/drawing/2014/main" id="{84A62B99-69E3-0821-3031-731B86E840F8}"/>
              </a:ext>
            </a:extLst>
          </p:cNvPr>
          <p:cNvSpPr/>
          <p:nvPr/>
        </p:nvSpPr>
        <p:spPr>
          <a:xfrm>
            <a:off x="6475187" y="-488581"/>
            <a:ext cx="865938" cy="86593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Freeform 13">
            <a:extLst>
              <a:ext uri="{FF2B5EF4-FFF2-40B4-BE49-F238E27FC236}">
                <a16:creationId xmlns:a16="http://schemas.microsoft.com/office/drawing/2014/main" id="{87F51F41-96FB-3553-5921-D11FAFEE3A6B}"/>
              </a:ext>
            </a:extLst>
          </p:cNvPr>
          <p:cNvSpPr/>
          <p:nvPr/>
        </p:nvSpPr>
        <p:spPr>
          <a:xfrm>
            <a:off x="-1257340" y="6617952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86732F9D-3C07-06A2-57EF-BABD4A98B37D}"/>
              </a:ext>
            </a:extLst>
          </p:cNvPr>
          <p:cNvSpPr/>
          <p:nvPr/>
        </p:nvSpPr>
        <p:spPr>
          <a:xfrm>
            <a:off x="13334952" y="6343195"/>
            <a:ext cx="3003835" cy="30038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F4278A-257F-F9AE-FABF-6523D380D1F2}"/>
              </a:ext>
            </a:extLst>
          </p:cNvPr>
          <p:cNvSpPr/>
          <p:nvPr/>
        </p:nvSpPr>
        <p:spPr>
          <a:xfrm>
            <a:off x="2536651" y="258680"/>
            <a:ext cx="5845350" cy="9182100"/>
          </a:xfrm>
          <a:prstGeom prst="roundRect">
            <a:avLst>
              <a:gd name="adj" fmla="val 9361"/>
            </a:avLst>
          </a:prstGeom>
          <a:solidFill>
            <a:srgbClr val="8AAEC2">
              <a:alpha val="44000"/>
            </a:srgb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520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8702878" y="5073976"/>
            <a:ext cx="6751603" cy="104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Sensors monitor activity patterns and provide 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986402" y="509711"/>
            <a:ext cx="4652579" cy="8229600"/>
            <a:chOff x="-50862" y="-80405"/>
            <a:chExt cx="720806" cy="1274980"/>
          </a:xfrm>
        </p:grpSpPr>
        <p:sp>
          <p:nvSpPr>
            <p:cNvPr id="4" name="Freeform 4"/>
            <p:cNvSpPr/>
            <p:nvPr/>
          </p:nvSpPr>
          <p:spPr>
            <a:xfrm>
              <a:off x="-50862" y="-80405"/>
              <a:ext cx="720806" cy="1274980"/>
            </a:xfrm>
            <a:custGeom>
              <a:avLst/>
              <a:gdLst/>
              <a:ahLst/>
              <a:cxnLst/>
              <a:rect l="l" t="t" r="r" b="b"/>
              <a:pathLst>
                <a:path w="720806" h="1274980">
                  <a:moveTo>
                    <a:pt x="37440" y="0"/>
                  </a:moveTo>
                  <a:lnTo>
                    <a:pt x="683366" y="0"/>
                  </a:lnTo>
                  <a:cubicBezTo>
                    <a:pt x="693296" y="0"/>
                    <a:pt x="702819" y="3945"/>
                    <a:pt x="709840" y="10966"/>
                  </a:cubicBezTo>
                  <a:cubicBezTo>
                    <a:pt x="716862" y="17987"/>
                    <a:pt x="720806" y="27510"/>
                    <a:pt x="720806" y="37440"/>
                  </a:cubicBezTo>
                  <a:lnTo>
                    <a:pt x="720806" y="1237540"/>
                  </a:lnTo>
                  <a:cubicBezTo>
                    <a:pt x="720806" y="1247470"/>
                    <a:pt x="716862" y="1256993"/>
                    <a:pt x="709840" y="1264014"/>
                  </a:cubicBezTo>
                  <a:cubicBezTo>
                    <a:pt x="702819" y="1271036"/>
                    <a:pt x="693296" y="1274980"/>
                    <a:pt x="683366" y="1274980"/>
                  </a:cubicBezTo>
                  <a:lnTo>
                    <a:pt x="37440" y="1274980"/>
                  </a:lnTo>
                  <a:cubicBezTo>
                    <a:pt x="27510" y="1274980"/>
                    <a:pt x="17987" y="1271036"/>
                    <a:pt x="10966" y="1264014"/>
                  </a:cubicBezTo>
                  <a:cubicBezTo>
                    <a:pt x="3945" y="1256993"/>
                    <a:pt x="0" y="1247470"/>
                    <a:pt x="0" y="1237540"/>
                  </a:cubicBezTo>
                  <a:lnTo>
                    <a:pt x="0" y="37440"/>
                  </a:lnTo>
                  <a:cubicBezTo>
                    <a:pt x="0" y="27510"/>
                    <a:pt x="3945" y="17987"/>
                    <a:pt x="10966" y="10966"/>
                  </a:cubicBezTo>
                  <a:cubicBezTo>
                    <a:pt x="17987" y="3945"/>
                    <a:pt x="27510" y="0"/>
                    <a:pt x="37440" y="0"/>
                  </a:cubicBezTo>
                  <a:close/>
                </a:path>
              </a:pathLst>
            </a:custGeom>
            <a:blipFill>
              <a:blip r:embed="rId2"/>
              <a:stretch>
                <a:fillRect l="-47321" r="-47321"/>
              </a:stretch>
            </a:blipFill>
            <a:effectLst>
              <a:softEdge rad="0"/>
            </a:effec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751349" y="2073048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6"/>
                </a:lnTo>
                <a:lnTo>
                  <a:pt x="0" y="1174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727262" y="7220830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136988" y="-811343"/>
            <a:ext cx="2087573" cy="2723946"/>
            <a:chOff x="76200" y="-419781"/>
            <a:chExt cx="886225" cy="1156381"/>
          </a:xfrm>
        </p:grpSpPr>
        <p:sp>
          <p:nvSpPr>
            <p:cNvPr id="11" name="Freeform 11"/>
            <p:cNvSpPr/>
            <p:nvPr/>
          </p:nvSpPr>
          <p:spPr>
            <a:xfrm>
              <a:off x="149625" y="-41978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702878" y="1019175"/>
            <a:ext cx="7048471" cy="108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7031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How CareAssist Works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02878" y="2713990"/>
            <a:ext cx="5317922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Radar-based fall detection (no cameras)</a:t>
            </a:r>
          </a:p>
          <a:p>
            <a:pPr algn="l">
              <a:lnSpc>
                <a:spcPts val="4050"/>
              </a:lnSpc>
            </a:pPr>
            <a:endParaRPr lang="en-US" sz="3375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02878" y="4098727"/>
            <a:ext cx="6524596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Continuous  motion monitoring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02878" y="6698443"/>
            <a:ext cx="6524596" cy="104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AI analyzes deviations from normal behavior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A01E6B-48E2-18AA-F35C-D664938FBFA6}"/>
              </a:ext>
            </a:extLst>
          </p:cNvPr>
          <p:cNvSpPr/>
          <p:nvPr/>
        </p:nvSpPr>
        <p:spPr>
          <a:xfrm>
            <a:off x="2577796" y="106280"/>
            <a:ext cx="5642199" cy="9182100"/>
          </a:xfrm>
          <a:prstGeom prst="roundRect">
            <a:avLst>
              <a:gd name="adj" fmla="val 9361"/>
            </a:avLst>
          </a:prstGeom>
          <a:solidFill>
            <a:srgbClr val="8AAEC2">
              <a:alpha val="18000"/>
            </a:srgb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520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DE7E4E09-56AD-9E4F-FBD4-DCF3FE3ABD1F}"/>
              </a:ext>
            </a:extLst>
          </p:cNvPr>
          <p:cNvSpPr/>
          <p:nvPr/>
        </p:nvSpPr>
        <p:spPr>
          <a:xfrm>
            <a:off x="13088767" y="12153900"/>
            <a:ext cx="5613785" cy="561378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1DD2D4BD-460B-F6B9-9968-7DDCF0B0870D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10">
            <a:extLst>
              <a:ext uri="{FF2B5EF4-FFF2-40B4-BE49-F238E27FC236}">
                <a16:creationId xmlns:a16="http://schemas.microsoft.com/office/drawing/2014/main" id="{4AE020F7-CB1D-BAA4-5993-FB570262A82F}"/>
              </a:ext>
            </a:extLst>
          </p:cNvPr>
          <p:cNvGrpSpPr/>
          <p:nvPr/>
        </p:nvGrpSpPr>
        <p:grpSpPr>
          <a:xfrm>
            <a:off x="1931750" y="525379"/>
            <a:ext cx="2087573" cy="2723946"/>
            <a:chOff x="76200" y="-419781"/>
            <a:chExt cx="886225" cy="1156381"/>
          </a:xfrm>
        </p:grpSpPr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AC7E42A0-FB53-6569-29BE-5972199A5EA0}"/>
                </a:ext>
              </a:extLst>
            </p:cNvPr>
            <p:cNvSpPr/>
            <p:nvPr/>
          </p:nvSpPr>
          <p:spPr>
            <a:xfrm>
              <a:off x="149625" y="-41978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4D2A9FA5-BF74-108E-F5DE-AE5942D0B054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 useBgFill="1">
        <p:nvSpPr>
          <p:cNvPr id="26" name="Freeform 13">
            <a:extLst>
              <a:ext uri="{FF2B5EF4-FFF2-40B4-BE49-F238E27FC236}">
                <a16:creationId xmlns:a16="http://schemas.microsoft.com/office/drawing/2014/main" id="{1FAAEFC4-63DC-D82D-BF19-9EDA50EAE7B1}"/>
              </a:ext>
            </a:extLst>
          </p:cNvPr>
          <p:cNvSpPr/>
          <p:nvPr/>
        </p:nvSpPr>
        <p:spPr>
          <a:xfrm flipH="1">
            <a:off x="-1447039" y="-6313543"/>
            <a:ext cx="2094739" cy="20947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49C431-9990-139F-935E-831F322653C8}"/>
              </a:ext>
            </a:extLst>
          </p:cNvPr>
          <p:cNvSpPr/>
          <p:nvPr/>
        </p:nvSpPr>
        <p:spPr>
          <a:xfrm>
            <a:off x="-6717180" y="1562101"/>
            <a:ext cx="14729760" cy="149352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330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5"/>
          <p:cNvGrpSpPr/>
          <p:nvPr/>
        </p:nvGrpSpPr>
        <p:grpSpPr>
          <a:xfrm>
            <a:off x="-10553" y="1991498"/>
            <a:ext cx="7904166" cy="8295501"/>
            <a:chOff x="0" y="0"/>
            <a:chExt cx="3331210" cy="33312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0" y="3331210"/>
                  </a:moveTo>
                  <a:lnTo>
                    <a:pt x="0" y="0"/>
                  </a:lnTo>
                  <a:cubicBezTo>
                    <a:pt x="1840230" y="0"/>
                    <a:pt x="3331210" y="1490980"/>
                    <a:pt x="3331210" y="3331210"/>
                  </a:cubicBezTo>
                  <a:lnTo>
                    <a:pt x="0" y="3331210"/>
                  </a:lnTo>
                  <a:close/>
                </a:path>
              </a:pathLst>
            </a:custGeom>
            <a:blipFill>
              <a:blip r:embed="rId3"/>
              <a:stretch>
                <a:fillRect l="-25000" r="-250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12580" y="5466598"/>
            <a:ext cx="6841976" cy="207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Helps physicians and families understand what is happening during a safety event</a:t>
            </a:r>
          </a:p>
          <a:p>
            <a:pPr algn="l">
              <a:lnSpc>
                <a:spcPts val="4050"/>
              </a:lnSpc>
            </a:pPr>
            <a:endParaRPr lang="en-US" sz="3375" b="1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167910" y="6372169"/>
            <a:ext cx="3668179" cy="366817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40411" b="-9401"/>
              </a:stretch>
            </a:blipFill>
            <a:ln w="267891" cap="sq">
              <a:solidFill>
                <a:srgbClr val="FFFFFF"/>
              </a:solidFill>
              <a:prstDash val="solid"/>
              <a:miter/>
            </a:ln>
            <a:effectLst>
              <a:softEdge rad="215900"/>
            </a:effec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83548" y="8661816"/>
            <a:ext cx="2658063" cy="265806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798424" y="1309797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6"/>
                </a:lnTo>
                <a:lnTo>
                  <a:pt x="0" y="1174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n>
                <a:solidFill>
                  <a:srgbClr val="FFFFFF"/>
                </a:solidFill>
              </a:ln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767478" y="3249325"/>
            <a:ext cx="695926" cy="695926"/>
          </a:xfrm>
          <a:custGeom>
            <a:avLst/>
            <a:gdLst/>
            <a:ahLst/>
            <a:cxnLst/>
            <a:rect l="l" t="t" r="r" b="b"/>
            <a:pathLst>
              <a:path w="695926" h="695926">
                <a:moveTo>
                  <a:pt x="0" y="0"/>
                </a:moveTo>
                <a:lnTo>
                  <a:pt x="695926" y="0"/>
                </a:lnTo>
                <a:lnTo>
                  <a:pt x="695926" y="695926"/>
                </a:lnTo>
                <a:lnTo>
                  <a:pt x="0" y="6959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819863" y="1441737"/>
            <a:ext cx="8903070" cy="1425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6600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Talk Assist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12580" y="3249325"/>
            <a:ext cx="7260536" cy="207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Conversational alert system that turns silent alerts into real communication</a:t>
            </a:r>
          </a:p>
          <a:p>
            <a:pPr algn="l">
              <a:lnSpc>
                <a:spcPts val="4050"/>
              </a:lnSpc>
            </a:pPr>
            <a:endParaRPr lang="en-US" sz="3375" b="1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0251D497-F22B-1AD3-F5A4-394AE465815E}"/>
              </a:ext>
            </a:extLst>
          </p:cNvPr>
          <p:cNvSpPr/>
          <p:nvPr/>
        </p:nvSpPr>
        <p:spPr>
          <a:xfrm>
            <a:off x="14973300" y="-1148056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19" name="Freeform 13">
            <a:extLst>
              <a:ext uri="{FF2B5EF4-FFF2-40B4-BE49-F238E27FC236}">
                <a16:creationId xmlns:a16="http://schemas.microsoft.com/office/drawing/2014/main" id="{DFCDE1F3-78E7-1027-91C2-0F03EB4A1F99}"/>
              </a:ext>
            </a:extLst>
          </p:cNvPr>
          <p:cNvSpPr/>
          <p:nvPr/>
        </p:nvSpPr>
        <p:spPr>
          <a:xfrm>
            <a:off x="-9985023" y="12502564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59834405-9169-E952-6E11-518E38B18B73}"/>
              </a:ext>
            </a:extLst>
          </p:cNvPr>
          <p:cNvSpPr/>
          <p:nvPr/>
        </p:nvSpPr>
        <p:spPr>
          <a:xfrm>
            <a:off x="13352415" y="-136836"/>
            <a:ext cx="3003835" cy="30038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66BCDFD5-F28A-098B-94CD-D231259634EB}"/>
              </a:ext>
            </a:extLst>
          </p:cNvPr>
          <p:cNvSpPr/>
          <p:nvPr/>
        </p:nvSpPr>
        <p:spPr>
          <a:xfrm>
            <a:off x="12674215" y="12915900"/>
            <a:ext cx="5613785" cy="561378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A4E5A1A9-5E22-4D28-D2EA-552EB5BB07DB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Freeform 13">
            <a:extLst>
              <a:ext uri="{FF2B5EF4-FFF2-40B4-BE49-F238E27FC236}">
                <a16:creationId xmlns:a16="http://schemas.microsoft.com/office/drawing/2014/main" id="{2520D9EA-3D96-A316-5410-B6D936106D08}"/>
              </a:ext>
            </a:extLst>
          </p:cNvPr>
          <p:cNvSpPr/>
          <p:nvPr/>
        </p:nvSpPr>
        <p:spPr>
          <a:xfrm>
            <a:off x="5412181" y="-8142144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962980E-BF41-0C6D-F7FF-BCEABB91E962}"/>
              </a:ext>
            </a:extLst>
          </p:cNvPr>
          <p:cNvSpPr/>
          <p:nvPr/>
        </p:nvSpPr>
        <p:spPr>
          <a:xfrm>
            <a:off x="-1065805" y="8894780"/>
            <a:ext cx="3003835" cy="30038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grpSp>
        <p:nvGrpSpPr>
          <p:cNvPr id="2" name="Group 2"/>
          <p:cNvGrpSpPr/>
          <p:nvPr/>
        </p:nvGrpSpPr>
        <p:grpSpPr>
          <a:xfrm>
            <a:off x="-13792200" y="-9049995"/>
            <a:ext cx="5642199" cy="564219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05051" y="2154564"/>
            <a:ext cx="9973549" cy="7966789"/>
            <a:chOff x="0" y="0"/>
            <a:chExt cx="156193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1939" cy="1274980"/>
            </a:xfrm>
            <a:custGeom>
              <a:avLst/>
              <a:gdLst/>
              <a:ahLst/>
              <a:cxnLst/>
              <a:rect l="l" t="t" r="r" b="b"/>
              <a:pathLst>
                <a:path w="1561939" h="1274980">
                  <a:moveTo>
                    <a:pt x="149671" y="0"/>
                  </a:moveTo>
                  <a:lnTo>
                    <a:pt x="1412268" y="0"/>
                  </a:lnTo>
                  <a:cubicBezTo>
                    <a:pt x="1451963" y="0"/>
                    <a:pt x="1490032" y="15769"/>
                    <a:pt x="1518101" y="43838"/>
                  </a:cubicBezTo>
                  <a:cubicBezTo>
                    <a:pt x="1546170" y="71907"/>
                    <a:pt x="1561939" y="109976"/>
                    <a:pt x="1561939" y="149671"/>
                  </a:cubicBezTo>
                  <a:lnTo>
                    <a:pt x="1561939" y="1125309"/>
                  </a:lnTo>
                  <a:cubicBezTo>
                    <a:pt x="1561939" y="1207970"/>
                    <a:pt x="1494929" y="1274980"/>
                    <a:pt x="1412268" y="1274980"/>
                  </a:cubicBezTo>
                  <a:lnTo>
                    <a:pt x="149671" y="1274980"/>
                  </a:lnTo>
                  <a:cubicBezTo>
                    <a:pt x="67010" y="1274980"/>
                    <a:pt x="0" y="1207970"/>
                    <a:pt x="0" y="1125309"/>
                  </a:cubicBezTo>
                  <a:lnTo>
                    <a:pt x="0" y="149671"/>
                  </a:lnTo>
                  <a:cubicBezTo>
                    <a:pt x="0" y="67010"/>
                    <a:pt x="67010" y="0"/>
                    <a:pt x="149671" y="0"/>
                  </a:cubicBezTo>
                  <a:close/>
                </a:path>
              </a:pathLst>
            </a:custGeom>
            <a:blipFill>
              <a:blip r:embed="rId2"/>
              <a:stretch>
                <a:fillRect l="-11221" r="-11221"/>
              </a:stretch>
            </a:blipFill>
            <a:effectLst>
              <a:softEdge rad="266700"/>
            </a:effec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5302" y="-921215"/>
            <a:ext cx="1842429" cy="18424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020293" y="1574500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111974" y="8275671"/>
            <a:ext cx="727821" cy="727821"/>
          </a:xfrm>
          <a:custGeom>
            <a:avLst/>
            <a:gdLst/>
            <a:ahLst/>
            <a:cxnLst/>
            <a:rect l="l" t="t" r="r" b="b"/>
            <a:pathLst>
              <a:path w="727821" h="727821">
                <a:moveTo>
                  <a:pt x="0" y="0"/>
                </a:moveTo>
                <a:lnTo>
                  <a:pt x="727822" y="0"/>
                </a:lnTo>
                <a:lnTo>
                  <a:pt x="727822" y="727821"/>
                </a:lnTo>
                <a:lnTo>
                  <a:pt x="0" y="72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792373" y="681911"/>
            <a:ext cx="788878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7031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How Talk Assist Works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8030" y="3589734"/>
            <a:ext cx="5708688" cy="155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Call buttons and panic alerts trigger conversation</a:t>
            </a:r>
          </a:p>
          <a:p>
            <a:pPr algn="l">
              <a:lnSpc>
                <a:spcPts val="4050"/>
              </a:lnSpc>
            </a:pPr>
            <a:endParaRPr lang="en-US" sz="3375" b="1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38030" y="5008166"/>
            <a:ext cx="5870046" cy="156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AI conversational hubs placed in rooms and bathrooms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8030" y="6943022"/>
            <a:ext cx="5870046" cy="155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Staff or caregivers speak instantly with the resident</a:t>
            </a:r>
          </a:p>
          <a:p>
            <a:pPr algn="l">
              <a:lnSpc>
                <a:spcPts val="4050"/>
              </a:lnSpc>
            </a:pPr>
            <a:endParaRPr lang="en-US" sz="3375" b="1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38030" y="8372394"/>
            <a:ext cx="5870046" cy="104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Situations are clarified before response is dispatched</a:t>
            </a:r>
          </a:p>
        </p:txBody>
      </p:sp>
      <p:sp useBgFill="1">
        <p:nvSpPr>
          <p:cNvPr id="17" name="Freeform 13">
            <a:extLst>
              <a:ext uri="{FF2B5EF4-FFF2-40B4-BE49-F238E27FC236}">
                <a16:creationId xmlns:a16="http://schemas.microsoft.com/office/drawing/2014/main" id="{7F6656DA-B819-E126-9F95-74D94D344777}"/>
              </a:ext>
            </a:extLst>
          </p:cNvPr>
          <p:cNvSpPr/>
          <p:nvPr/>
        </p:nvSpPr>
        <p:spPr>
          <a:xfrm flipH="1">
            <a:off x="-1447039" y="-6313543"/>
            <a:ext cx="2094739" cy="20947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A29C1D5F-81FC-A979-7675-7241FEBCFFC0}"/>
              </a:ext>
            </a:extLst>
          </p:cNvPr>
          <p:cNvGrpSpPr/>
          <p:nvPr/>
        </p:nvGrpSpPr>
        <p:grpSpPr>
          <a:xfrm>
            <a:off x="1082426" y="14884579"/>
            <a:ext cx="2658063" cy="2658063"/>
            <a:chOff x="0" y="0"/>
            <a:chExt cx="812800" cy="812800"/>
          </a:xfrm>
        </p:grpSpPr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3547EB01-9ACD-8C4D-D9EC-52426365BA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2">
              <a:extLst>
                <a:ext uri="{FF2B5EF4-FFF2-40B4-BE49-F238E27FC236}">
                  <a16:creationId xmlns:a16="http://schemas.microsoft.com/office/drawing/2014/main" id="{DD48F21A-7DF5-792E-6C14-4AE139F1C01B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1" name="Freeform 3">
            <a:extLst>
              <a:ext uri="{FF2B5EF4-FFF2-40B4-BE49-F238E27FC236}">
                <a16:creationId xmlns:a16="http://schemas.microsoft.com/office/drawing/2014/main" id="{BFB75CDC-20B0-0471-9CDF-A1239AB9FA39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7C14E643-1DDB-93E1-B15F-43E550AAA17A}"/>
              </a:ext>
            </a:extLst>
          </p:cNvPr>
          <p:cNvSpPr/>
          <p:nvPr/>
        </p:nvSpPr>
        <p:spPr>
          <a:xfrm>
            <a:off x="12674215" y="12915900"/>
            <a:ext cx="5613785" cy="561378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66F6D95-441B-AE98-E017-D0C6317E7700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141141" y="8074001"/>
            <a:ext cx="3259608" cy="321259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99"/>
              </a:lnSpc>
            </a:pPr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12845244" y="3912470"/>
            <a:ext cx="6197357" cy="6105382"/>
            <a:chOff x="0" y="0"/>
            <a:chExt cx="812800" cy="812800"/>
          </a:xfrm>
          <a:effectLst/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05111" t="-11748" b="-11748"/>
              </a:stretch>
            </a:blipFill>
            <a:ln cap="sq">
              <a:noFill/>
              <a:prstDash val="solid"/>
              <a:miter/>
            </a:ln>
            <a:effectLst>
              <a:softEdge rad="50800"/>
            </a:effec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639766" y="4549670"/>
            <a:ext cx="2415491" cy="241549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987108" y="11446765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5" y="0"/>
                </a:lnTo>
                <a:lnTo>
                  <a:pt x="1174875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6779760" y="-99656"/>
            <a:ext cx="15073950" cy="10357762"/>
          </a:xfrm>
          <a:custGeom>
            <a:avLst/>
            <a:gdLst/>
            <a:ahLst/>
            <a:cxnLst/>
            <a:rect l="l" t="t" r="r" b="b"/>
            <a:pathLst>
              <a:path w="9741441" h="6494294">
                <a:moveTo>
                  <a:pt x="0" y="0"/>
                </a:moveTo>
                <a:lnTo>
                  <a:pt x="9741440" y="0"/>
                </a:lnTo>
                <a:lnTo>
                  <a:pt x="9741440" y="6494294"/>
                </a:lnTo>
                <a:lnTo>
                  <a:pt x="0" y="6494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softEdge rad="638239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721126" y="2628900"/>
            <a:ext cx="4156674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Faster response to emergencies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21126" y="4465315"/>
            <a:ext cx="415667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Fewer unnecessary alarms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21125" y="6301730"/>
            <a:ext cx="4156673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Seniors feel heard rather than monitored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21125" y="8663930"/>
            <a:ext cx="4156674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Families gain reassurance</a:t>
            </a: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87B9E1FD-29D7-07F3-86A8-DDFDF72C4F1D}"/>
              </a:ext>
            </a:extLst>
          </p:cNvPr>
          <p:cNvSpPr/>
          <p:nvPr/>
        </p:nvSpPr>
        <p:spPr>
          <a:xfrm>
            <a:off x="7432252" y="12161498"/>
            <a:ext cx="3003835" cy="30038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 useBgFill="1">
        <p:nvSpPr>
          <p:cNvPr id="20" name="Freeform 13">
            <a:extLst>
              <a:ext uri="{FF2B5EF4-FFF2-40B4-BE49-F238E27FC236}">
                <a16:creationId xmlns:a16="http://schemas.microsoft.com/office/drawing/2014/main" id="{036F9918-5F6F-4D7A-4F5D-B0707E412134}"/>
              </a:ext>
            </a:extLst>
          </p:cNvPr>
          <p:cNvSpPr/>
          <p:nvPr/>
        </p:nvSpPr>
        <p:spPr>
          <a:xfrm flipH="1">
            <a:off x="-1447039" y="-6313543"/>
            <a:ext cx="2094739" cy="20947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3832C956-9780-FFB3-9A23-DFA2B36DF6BF}"/>
              </a:ext>
            </a:extLst>
          </p:cNvPr>
          <p:cNvGrpSpPr/>
          <p:nvPr/>
        </p:nvGrpSpPr>
        <p:grpSpPr>
          <a:xfrm>
            <a:off x="1082426" y="14884579"/>
            <a:ext cx="2658063" cy="2658063"/>
            <a:chOff x="0" y="0"/>
            <a:chExt cx="812800" cy="812800"/>
          </a:xfrm>
        </p:grpSpPr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C5E11AD-908C-FCEA-03F2-70D3DC5F17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876E40E7-CF91-FD60-AE3C-8090DB501956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4" name="Freeform 3">
            <a:extLst>
              <a:ext uri="{FF2B5EF4-FFF2-40B4-BE49-F238E27FC236}">
                <a16:creationId xmlns:a16="http://schemas.microsoft.com/office/drawing/2014/main" id="{82DCFD37-01B5-AEF4-0F31-D72DD630E097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5B3297ED-9A3B-A615-2BC5-82ABC3607E0D}"/>
              </a:ext>
            </a:extLst>
          </p:cNvPr>
          <p:cNvSpPr/>
          <p:nvPr/>
        </p:nvSpPr>
        <p:spPr>
          <a:xfrm>
            <a:off x="-24238829" y="-5188312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>
            <a:off x="6844814" y="4578224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92EF455-089F-446F-9F40-3D4E63AFE4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690" y="-986886"/>
            <a:ext cx="10638608" cy="46825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80261E82-B223-7153-EC4E-E553483D5FFA}"/>
              </a:ext>
            </a:extLst>
          </p:cNvPr>
          <p:cNvSpPr/>
          <p:nvPr/>
        </p:nvSpPr>
        <p:spPr>
          <a:xfrm>
            <a:off x="-4381541" y="12992100"/>
            <a:ext cx="2598539" cy="25985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grpSp>
        <p:nvGrpSpPr>
          <p:cNvPr id="2" name="Group 2"/>
          <p:cNvGrpSpPr/>
          <p:nvPr/>
        </p:nvGrpSpPr>
        <p:grpSpPr>
          <a:xfrm>
            <a:off x="-1668702" y="-1181100"/>
            <a:ext cx="4011825" cy="401182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92326" y="957769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154400" y="8677629"/>
            <a:ext cx="725861" cy="725861"/>
          </a:xfrm>
          <a:custGeom>
            <a:avLst/>
            <a:gdLst/>
            <a:ahLst/>
            <a:cxnLst/>
            <a:rect l="l" t="t" r="r" b="b"/>
            <a:pathLst>
              <a:path w="725861" h="725861">
                <a:moveTo>
                  <a:pt x="0" y="0"/>
                </a:moveTo>
                <a:lnTo>
                  <a:pt x="725860" y="0"/>
                </a:lnTo>
                <a:lnTo>
                  <a:pt x="725860" y="725861"/>
                </a:lnTo>
                <a:lnTo>
                  <a:pt x="0" y="725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705387" y="0"/>
            <a:ext cx="6447453" cy="7962900"/>
          </a:xfrm>
          <a:custGeom>
            <a:avLst/>
            <a:gdLst/>
            <a:ahLst/>
            <a:cxnLst/>
            <a:rect l="l" t="t" r="r" b="b"/>
            <a:pathLst>
              <a:path w="8475944" h="6314578">
                <a:moveTo>
                  <a:pt x="0" y="0"/>
                </a:moveTo>
                <a:lnTo>
                  <a:pt x="8475945" y="0"/>
                </a:lnTo>
                <a:lnTo>
                  <a:pt x="8475945" y="6314579"/>
                </a:lnTo>
                <a:lnTo>
                  <a:pt x="0" y="631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6245"/>
            </a:stretch>
          </a:blipFill>
          <a:effectLst>
            <a:softEdge rad="10160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2700086" y="454756"/>
            <a:ext cx="5420633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8437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Clinical Value for Physicians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00086" y="3510353"/>
            <a:ext cx="3265695" cy="156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Early detection of mobility decline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10588" y="3539976"/>
            <a:ext cx="3692864" cy="156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Awareness of behavioral changes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00086" y="5864051"/>
            <a:ext cx="3265695" cy="2598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Identification of abnormal sleep or idle patterns</a:t>
            </a:r>
          </a:p>
          <a:p>
            <a:pPr algn="l">
              <a:lnSpc>
                <a:spcPts val="4050"/>
              </a:lnSpc>
            </a:pPr>
            <a:endParaRPr lang="en-US" sz="3375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10588" y="5802015"/>
            <a:ext cx="2820849" cy="2089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Supports earlier medical intervention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547201" y="6695234"/>
            <a:ext cx="3880326" cy="2769776"/>
          </a:xfrm>
          <a:custGeom>
            <a:avLst/>
            <a:gdLst/>
            <a:ahLst/>
            <a:cxnLst/>
            <a:rect l="l" t="t" r="r" b="b"/>
            <a:pathLst>
              <a:path w="3880326" h="2769776">
                <a:moveTo>
                  <a:pt x="0" y="0"/>
                </a:moveTo>
                <a:lnTo>
                  <a:pt x="3880326" y="0"/>
                </a:lnTo>
                <a:lnTo>
                  <a:pt x="3880326" y="2769776"/>
                </a:lnTo>
                <a:lnTo>
                  <a:pt x="0" y="2769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87" t="-47284" r="-104324" b="-350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67613738-0DAE-A75A-7596-DAC783290FCD}"/>
              </a:ext>
            </a:extLst>
          </p:cNvPr>
          <p:cNvSpPr/>
          <p:nvPr/>
        </p:nvSpPr>
        <p:spPr>
          <a:xfrm>
            <a:off x="10511333" y="14620034"/>
            <a:ext cx="3556154" cy="355615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CBBCC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18" name="Freeform 13">
            <a:extLst>
              <a:ext uri="{FF2B5EF4-FFF2-40B4-BE49-F238E27FC236}">
                <a16:creationId xmlns:a16="http://schemas.microsoft.com/office/drawing/2014/main" id="{42CDA996-71B5-AED2-07D3-379509700B32}"/>
              </a:ext>
            </a:extLst>
          </p:cNvPr>
          <p:cNvSpPr/>
          <p:nvPr/>
        </p:nvSpPr>
        <p:spPr>
          <a:xfrm>
            <a:off x="5412181" y="-8142144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20" name="Freeform 13">
            <a:extLst>
              <a:ext uri="{FF2B5EF4-FFF2-40B4-BE49-F238E27FC236}">
                <a16:creationId xmlns:a16="http://schemas.microsoft.com/office/drawing/2014/main" id="{B593D15A-C36F-34B7-4436-83A0446BFC17}"/>
              </a:ext>
            </a:extLst>
          </p:cNvPr>
          <p:cNvSpPr/>
          <p:nvPr/>
        </p:nvSpPr>
        <p:spPr>
          <a:xfrm flipH="1">
            <a:off x="-1447039" y="-6313543"/>
            <a:ext cx="2094739" cy="20947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27EBCE7B-5A15-BC69-D358-CE1812859ADF}"/>
              </a:ext>
            </a:extLst>
          </p:cNvPr>
          <p:cNvGrpSpPr/>
          <p:nvPr/>
        </p:nvGrpSpPr>
        <p:grpSpPr>
          <a:xfrm>
            <a:off x="16528487" y="14558945"/>
            <a:ext cx="2658063" cy="2658063"/>
            <a:chOff x="0" y="0"/>
            <a:chExt cx="812800" cy="812800"/>
          </a:xfrm>
        </p:grpSpPr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13C700FE-B17B-43C9-372C-AFB11E9524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12B6C182-9ABA-88C0-9BC7-3939380E8256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4" name="Freeform 3">
            <a:extLst>
              <a:ext uri="{FF2B5EF4-FFF2-40B4-BE49-F238E27FC236}">
                <a16:creationId xmlns:a16="http://schemas.microsoft.com/office/drawing/2014/main" id="{84E3F36C-7293-12F1-B07B-4DF1602E4269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34D27EB-AD34-9D92-291B-7D6F5DE7BC3B}"/>
              </a:ext>
            </a:extLst>
          </p:cNvPr>
          <p:cNvSpPr/>
          <p:nvPr/>
        </p:nvSpPr>
        <p:spPr>
          <a:xfrm>
            <a:off x="-20473506" y="-3835762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Freeform 13">
            <a:extLst>
              <a:ext uri="{FF2B5EF4-FFF2-40B4-BE49-F238E27FC236}">
                <a16:creationId xmlns:a16="http://schemas.microsoft.com/office/drawing/2014/main" id="{D950F162-F423-07A1-975C-2B0356B671F9}"/>
              </a:ext>
            </a:extLst>
          </p:cNvPr>
          <p:cNvSpPr/>
          <p:nvPr/>
        </p:nvSpPr>
        <p:spPr>
          <a:xfrm>
            <a:off x="15439566" y="7255263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974459A3-0A50-3809-EB27-57577280B389}"/>
              </a:ext>
            </a:extLst>
          </p:cNvPr>
          <p:cNvSpPr/>
          <p:nvPr/>
        </p:nvSpPr>
        <p:spPr>
          <a:xfrm>
            <a:off x="12322255" y="-403638"/>
            <a:ext cx="3507892" cy="350789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grpSp>
        <p:nvGrpSpPr>
          <p:cNvPr id="5" name="Group 5"/>
          <p:cNvGrpSpPr/>
          <p:nvPr/>
        </p:nvGrpSpPr>
        <p:grpSpPr>
          <a:xfrm>
            <a:off x="747844" y="-4028567"/>
            <a:ext cx="8396156" cy="83961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804342" y="3580449"/>
            <a:ext cx="8583637" cy="4206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cs typeface="Karma Bold"/>
                <a:sym typeface="Karma"/>
              </a:rPr>
              <a:t>Loved ones remain independent at home</a:t>
            </a:r>
          </a:p>
          <a:p>
            <a:pPr algn="l">
              <a:lnSpc>
                <a:spcPts val="4108"/>
              </a:lnSpc>
            </a:pPr>
            <a:endParaRPr lang="en-US" sz="3375" b="1" dirty="0">
              <a:solidFill>
                <a:srgbClr val="2A566A"/>
              </a:solidFill>
              <a:latin typeface="Karma Bold"/>
              <a:cs typeface="Karma Bold"/>
              <a:sym typeface="Karma"/>
            </a:endParaRPr>
          </a:p>
          <a:p>
            <a:pPr algn="l">
              <a:lnSpc>
                <a:spcPts val="4108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cs typeface="Karma Bold"/>
                <a:sym typeface="Karma"/>
              </a:rPr>
              <a:t>Families receive meaningful alerts</a:t>
            </a:r>
          </a:p>
          <a:p>
            <a:pPr algn="l">
              <a:lnSpc>
                <a:spcPts val="4108"/>
              </a:lnSpc>
            </a:pPr>
            <a:endParaRPr lang="en-US" sz="3375" b="1" dirty="0">
              <a:solidFill>
                <a:srgbClr val="2A566A"/>
              </a:solidFill>
              <a:latin typeface="Karma Bold"/>
              <a:cs typeface="Karma Bold"/>
              <a:sym typeface="Karma"/>
            </a:endParaRPr>
          </a:p>
          <a:p>
            <a:pPr algn="l">
              <a:lnSpc>
                <a:spcPts val="4108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cs typeface="Karma Bold"/>
                <a:sym typeface="Karma"/>
              </a:rPr>
              <a:t>Clear communication during safety events</a:t>
            </a:r>
          </a:p>
          <a:p>
            <a:pPr algn="l">
              <a:lnSpc>
                <a:spcPts val="4108"/>
              </a:lnSpc>
            </a:pPr>
            <a:endParaRPr lang="en-US" sz="3375" b="1" dirty="0">
              <a:solidFill>
                <a:srgbClr val="2A566A"/>
              </a:solidFill>
              <a:latin typeface="Karma Bold"/>
              <a:cs typeface="Karma Bold"/>
              <a:sym typeface="Karma"/>
            </a:endParaRPr>
          </a:p>
          <a:p>
            <a:pPr algn="l">
              <a:lnSpc>
                <a:spcPts val="4108"/>
              </a:lnSpc>
            </a:pPr>
            <a:r>
              <a:rPr lang="en-US" sz="3375" b="1" dirty="0">
                <a:solidFill>
                  <a:srgbClr val="2A566A"/>
                </a:solidFill>
                <a:latin typeface="Karma Bold"/>
                <a:cs typeface="Karma Bold"/>
                <a:sym typeface="Karma"/>
              </a:rPr>
              <a:t>Greater confidence in care environment</a:t>
            </a:r>
          </a:p>
          <a:p>
            <a:pPr algn="l">
              <a:lnSpc>
                <a:spcPts val="4108"/>
              </a:lnSpc>
            </a:pPr>
            <a:endParaRPr lang="en-US" sz="3423" b="1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069672" y="5833113"/>
            <a:ext cx="2415491" cy="24154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0372" y="4857968"/>
            <a:ext cx="6318406" cy="631840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259" r="-18259"/>
              </a:stretch>
            </a:blipFill>
            <a:ln cap="sq">
              <a:noFill/>
              <a:prstDash val="solid"/>
              <a:miter/>
            </a:ln>
            <a:effectLst>
              <a:softEdge rad="63500"/>
            </a:effec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Freeform 14"/>
          <p:cNvSpPr/>
          <p:nvPr/>
        </p:nvSpPr>
        <p:spPr>
          <a:xfrm>
            <a:off x="3314700" y="5686207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5"/>
                </a:lnTo>
                <a:lnTo>
                  <a:pt x="0" y="117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191383" y="7810810"/>
            <a:ext cx="875587" cy="875587"/>
          </a:xfrm>
          <a:custGeom>
            <a:avLst/>
            <a:gdLst/>
            <a:ahLst/>
            <a:cxnLst/>
            <a:rect l="l" t="t" r="r" b="b"/>
            <a:pathLst>
              <a:path w="875587" h="875587">
                <a:moveTo>
                  <a:pt x="0" y="0"/>
                </a:moveTo>
                <a:lnTo>
                  <a:pt x="875587" y="0"/>
                </a:lnTo>
                <a:lnTo>
                  <a:pt x="875587" y="875587"/>
                </a:lnTo>
                <a:lnTo>
                  <a:pt x="0" y="8755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006010" y="474480"/>
            <a:ext cx="4815623" cy="228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8"/>
              </a:lnSpc>
            </a:pPr>
            <a:r>
              <a:rPr lang="en-US" sz="7423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Peace of Mind for Families</a:t>
            </a:r>
          </a:p>
        </p:txBody>
      </p:sp>
      <p:sp useBgFill="1">
        <p:nvSpPr>
          <p:cNvPr id="19" name="Freeform 13">
            <a:extLst>
              <a:ext uri="{FF2B5EF4-FFF2-40B4-BE49-F238E27FC236}">
                <a16:creationId xmlns:a16="http://schemas.microsoft.com/office/drawing/2014/main" id="{1FE38A26-7290-FF4A-62D2-631A78523F1D}"/>
              </a:ext>
            </a:extLst>
          </p:cNvPr>
          <p:cNvSpPr/>
          <p:nvPr/>
        </p:nvSpPr>
        <p:spPr>
          <a:xfrm flipH="1">
            <a:off x="11179660" y="8739313"/>
            <a:ext cx="2094739" cy="20947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3C8B2339-E565-B5B1-F242-42F4464F6E1E}"/>
              </a:ext>
            </a:extLst>
          </p:cNvPr>
          <p:cNvGrpSpPr/>
          <p:nvPr/>
        </p:nvGrpSpPr>
        <p:grpSpPr>
          <a:xfrm>
            <a:off x="1082426" y="14884579"/>
            <a:ext cx="2658063" cy="2658063"/>
            <a:chOff x="0" y="0"/>
            <a:chExt cx="812800" cy="812800"/>
          </a:xfrm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C17FA31E-7B7B-C122-E10D-88AB54EA21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B57255FF-BD79-2109-9A5D-CD79BAB3536F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3" name="Freeform 3">
            <a:extLst>
              <a:ext uri="{FF2B5EF4-FFF2-40B4-BE49-F238E27FC236}">
                <a16:creationId xmlns:a16="http://schemas.microsoft.com/office/drawing/2014/main" id="{BBAEA1C4-63A6-33C8-8093-4E7C17B6B39A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98A604C5-8E0F-B941-D4ED-83907739DE5D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7200" y="-266700"/>
            <a:ext cx="8999506" cy="8044432"/>
            <a:chOff x="0" y="0"/>
            <a:chExt cx="3331210" cy="33312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0" y="0"/>
                  </a:moveTo>
                  <a:lnTo>
                    <a:pt x="3331210" y="0"/>
                  </a:lnTo>
                  <a:cubicBezTo>
                    <a:pt x="3331210" y="1840230"/>
                    <a:pt x="1840230" y="3331210"/>
                    <a:pt x="0" y="3331210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428" r="-21428"/>
              </a:stretch>
            </a:blipFill>
            <a:effectLst>
              <a:softEdge rad="165100"/>
            </a:effec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830147" y="13726833"/>
            <a:ext cx="4011825" cy="40118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217148" y="5152656"/>
            <a:ext cx="5514488" cy="564875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1428" r="-21428"/>
              </a:stretch>
            </a:blipFill>
            <a:ln cap="sq">
              <a:noFill/>
              <a:prstDash val="solid"/>
              <a:miter/>
            </a:ln>
            <a:effectLst>
              <a:softEdge rad="127000"/>
            </a:effec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144000" y="7011862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6"/>
                </a:lnTo>
                <a:lnTo>
                  <a:pt x="0" y="1174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013012" y="9442479"/>
            <a:ext cx="1174876" cy="1174876"/>
          </a:xfrm>
          <a:custGeom>
            <a:avLst/>
            <a:gdLst/>
            <a:ahLst/>
            <a:cxnLst/>
            <a:rect l="l" t="t" r="r" b="b"/>
            <a:pathLst>
              <a:path w="1174876" h="1174876">
                <a:moveTo>
                  <a:pt x="0" y="0"/>
                </a:moveTo>
                <a:lnTo>
                  <a:pt x="1174876" y="0"/>
                </a:lnTo>
                <a:lnTo>
                  <a:pt x="1174876" y="1174876"/>
                </a:lnTo>
                <a:lnTo>
                  <a:pt x="0" y="1174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808555" y="7706764"/>
            <a:ext cx="6524596" cy="108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7"/>
              </a:lnSpc>
            </a:pPr>
            <a:r>
              <a:rPr lang="en-US" sz="7031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Improved Outcomes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42306" y="1583983"/>
            <a:ext cx="7221569" cy="56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3622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Earlier detection of health issues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42306" y="2509268"/>
            <a:ext cx="6647388" cy="112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3622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Reduced falls and emergency events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42306" y="3995279"/>
            <a:ext cx="7221569" cy="112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3622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Better coordination between care teams and families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42306" y="5481290"/>
            <a:ext cx="6647388" cy="56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3622" b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Safer aging in place</a:t>
            </a:r>
          </a:p>
        </p:txBody>
      </p:sp>
      <p:sp useBgFill="1">
        <p:nvSpPr>
          <p:cNvPr id="19" name="Freeform 13">
            <a:extLst>
              <a:ext uri="{FF2B5EF4-FFF2-40B4-BE49-F238E27FC236}">
                <a16:creationId xmlns:a16="http://schemas.microsoft.com/office/drawing/2014/main" id="{A929DA16-5A4C-CC66-43BE-959D1BEE227D}"/>
              </a:ext>
            </a:extLst>
          </p:cNvPr>
          <p:cNvSpPr/>
          <p:nvPr/>
        </p:nvSpPr>
        <p:spPr>
          <a:xfrm>
            <a:off x="5412181" y="-8142144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C4A13735-6EFF-A6EC-D808-0831144F80EC}"/>
              </a:ext>
            </a:extLst>
          </p:cNvPr>
          <p:cNvSpPr/>
          <p:nvPr/>
        </p:nvSpPr>
        <p:spPr>
          <a:xfrm>
            <a:off x="13687776" y="-1795961"/>
            <a:ext cx="3003835" cy="30038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sp useBgFill="1">
        <p:nvSpPr>
          <p:cNvPr id="21" name="Freeform 13">
            <a:extLst>
              <a:ext uri="{FF2B5EF4-FFF2-40B4-BE49-F238E27FC236}">
                <a16:creationId xmlns:a16="http://schemas.microsoft.com/office/drawing/2014/main" id="{A694FE35-B854-8BAF-AF4C-873F72D36261}"/>
              </a:ext>
            </a:extLst>
          </p:cNvPr>
          <p:cNvSpPr/>
          <p:nvPr/>
        </p:nvSpPr>
        <p:spPr>
          <a:xfrm flipH="1">
            <a:off x="16366246" y="3411157"/>
            <a:ext cx="1365390" cy="136539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22" name="Group 10">
            <a:extLst>
              <a:ext uri="{FF2B5EF4-FFF2-40B4-BE49-F238E27FC236}">
                <a16:creationId xmlns:a16="http://schemas.microsoft.com/office/drawing/2014/main" id="{D10ECB41-8B47-9CA7-302A-0B86102E193D}"/>
              </a:ext>
            </a:extLst>
          </p:cNvPr>
          <p:cNvGrpSpPr/>
          <p:nvPr/>
        </p:nvGrpSpPr>
        <p:grpSpPr>
          <a:xfrm>
            <a:off x="-1036256" y="8700885"/>
            <a:ext cx="2658063" cy="2658063"/>
            <a:chOff x="0" y="0"/>
            <a:chExt cx="812800" cy="812800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BA7D779A-7907-8AAC-5894-6952C7D1FF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1750F8F7-A603-1E7A-C926-3EE72DB83363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5" name="Freeform 3">
            <a:extLst>
              <a:ext uri="{FF2B5EF4-FFF2-40B4-BE49-F238E27FC236}">
                <a16:creationId xmlns:a16="http://schemas.microsoft.com/office/drawing/2014/main" id="{36DCED4B-78DB-9C94-A50D-B068A13B4145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305A544B-A26F-DB84-6D05-96756E162B87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7342A33F-BE72-FF0B-87BB-24729CCB634A}"/>
              </a:ext>
            </a:extLst>
          </p:cNvPr>
          <p:cNvSpPr/>
          <p:nvPr/>
        </p:nvSpPr>
        <p:spPr>
          <a:xfrm>
            <a:off x="10031145" y="12608077"/>
            <a:ext cx="3621108" cy="362110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grpSp>
        <p:nvGrpSpPr>
          <p:cNvPr id="7" name="Group 7"/>
          <p:cNvGrpSpPr/>
          <p:nvPr/>
        </p:nvGrpSpPr>
        <p:grpSpPr>
          <a:xfrm>
            <a:off x="14063224" y="14439900"/>
            <a:ext cx="4902009" cy="490200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143" r="-18143"/>
              </a:stretch>
            </a:blipFill>
            <a:ln w="348258" cap="sq">
              <a:solidFill>
                <a:srgbClr val="FFFFFF"/>
              </a:solidFill>
              <a:prstDash val="solid"/>
              <a:miter/>
            </a:ln>
            <a:effectLst>
              <a:softEdge rad="215900"/>
            </a:effec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3701321" y="8679161"/>
            <a:ext cx="7525222" cy="9916347"/>
            <a:chOff x="-371164" y="85725"/>
            <a:chExt cx="1107764" cy="1459754"/>
          </a:xfrm>
        </p:grpSpPr>
        <p:sp>
          <p:nvSpPr>
            <p:cNvPr id="3" name="Freeform 3"/>
            <p:cNvSpPr/>
            <p:nvPr/>
          </p:nvSpPr>
          <p:spPr>
            <a:xfrm>
              <a:off x="-371164" y="732679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73328" y="987068"/>
            <a:ext cx="9469652" cy="9469652"/>
            <a:chOff x="0" y="0"/>
            <a:chExt cx="3331210" cy="33312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31210" cy="3331210"/>
            </a:xfrm>
            <a:custGeom>
              <a:avLst/>
              <a:gdLst/>
              <a:ahLst/>
              <a:cxnLst/>
              <a:rect l="l" t="t" r="r" b="b"/>
              <a:pathLst>
                <a:path w="3331210" h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3"/>
              <a:stretch>
                <a:fillRect l="-25136" r="-25136"/>
              </a:stretch>
            </a:blipFill>
            <a:effectLst>
              <a:softEdge rad="139700"/>
            </a:effec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62063" y="-1032460"/>
            <a:ext cx="2839932" cy="2064919"/>
            <a:chOff x="-381263" y="0"/>
            <a:chExt cx="1117863" cy="812800"/>
          </a:xfrm>
        </p:grpSpPr>
        <p:sp>
          <p:nvSpPr>
            <p:cNvPr id="10" name="Freeform 10"/>
            <p:cNvSpPr/>
            <p:nvPr/>
          </p:nvSpPr>
          <p:spPr>
            <a:xfrm>
              <a:off x="-381263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AAEC2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859074" y="4892467"/>
            <a:ext cx="1367469" cy="1367469"/>
          </a:xfrm>
          <a:custGeom>
            <a:avLst/>
            <a:gdLst/>
            <a:ahLst/>
            <a:cxnLst/>
            <a:rect l="l" t="t" r="r" b="b"/>
            <a:pathLst>
              <a:path w="1367469" h="1367469">
                <a:moveTo>
                  <a:pt x="0" y="0"/>
                </a:moveTo>
                <a:lnTo>
                  <a:pt x="1367469" y="0"/>
                </a:lnTo>
                <a:lnTo>
                  <a:pt x="1367469" y="1367469"/>
                </a:lnTo>
                <a:lnTo>
                  <a:pt x="0" y="13674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94530" y="7556450"/>
            <a:ext cx="4486205" cy="2439374"/>
          </a:xfrm>
          <a:custGeom>
            <a:avLst/>
            <a:gdLst/>
            <a:ahLst/>
            <a:cxnLst/>
            <a:rect l="l" t="t" r="r" b="b"/>
            <a:pathLst>
              <a:path w="2479917" h="1348455">
                <a:moveTo>
                  <a:pt x="0" y="0"/>
                </a:moveTo>
                <a:lnTo>
                  <a:pt x="2479917" y="0"/>
                </a:lnTo>
                <a:lnTo>
                  <a:pt x="2479917" y="1348454"/>
                </a:lnTo>
                <a:lnTo>
                  <a:pt x="0" y="1348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90600" y="534893"/>
            <a:ext cx="5477719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sz="8437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The Future of Senior Care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4530" y="3829709"/>
            <a:ext cx="6529718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552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AI monitoring provides visibility between doctor visits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7775" y="5510841"/>
            <a:ext cx="6930490" cy="2155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3528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Helping physicians, caregivers, and families work together to protect older adults</a:t>
            </a:r>
          </a:p>
          <a:p>
            <a:pPr algn="l">
              <a:lnSpc>
                <a:spcPts val="4234"/>
              </a:lnSpc>
            </a:pPr>
            <a:endParaRPr lang="en-US" sz="3528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 useBgFill="1">
        <p:nvSpPr>
          <p:cNvPr id="19" name="Freeform 13">
            <a:extLst>
              <a:ext uri="{FF2B5EF4-FFF2-40B4-BE49-F238E27FC236}">
                <a16:creationId xmlns:a16="http://schemas.microsoft.com/office/drawing/2014/main" id="{B60AA92D-D266-4969-26A3-8CE9F30DCD1D}"/>
              </a:ext>
            </a:extLst>
          </p:cNvPr>
          <p:cNvSpPr/>
          <p:nvPr/>
        </p:nvSpPr>
        <p:spPr>
          <a:xfrm>
            <a:off x="5412181" y="-8142144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 useBgFill="1">
        <p:nvSpPr>
          <p:cNvPr id="21" name="Freeform 13">
            <a:extLst>
              <a:ext uri="{FF2B5EF4-FFF2-40B4-BE49-F238E27FC236}">
                <a16:creationId xmlns:a16="http://schemas.microsoft.com/office/drawing/2014/main" id="{91593DAB-B6D8-C81A-B388-22AFB55B37CA}"/>
              </a:ext>
            </a:extLst>
          </p:cNvPr>
          <p:cNvSpPr/>
          <p:nvPr/>
        </p:nvSpPr>
        <p:spPr>
          <a:xfrm flipH="1">
            <a:off x="10264592" y="-712921"/>
            <a:ext cx="2602814" cy="260281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22" name="Group 10">
            <a:extLst>
              <a:ext uri="{FF2B5EF4-FFF2-40B4-BE49-F238E27FC236}">
                <a16:creationId xmlns:a16="http://schemas.microsoft.com/office/drawing/2014/main" id="{F48716D5-97ED-2AD1-1388-334DBA598AAA}"/>
              </a:ext>
            </a:extLst>
          </p:cNvPr>
          <p:cNvGrpSpPr/>
          <p:nvPr/>
        </p:nvGrpSpPr>
        <p:grpSpPr>
          <a:xfrm>
            <a:off x="1082426" y="14884579"/>
            <a:ext cx="2658063" cy="2658063"/>
            <a:chOff x="0" y="0"/>
            <a:chExt cx="812800" cy="812800"/>
          </a:xfrm>
        </p:grpSpPr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55D15830-AECD-11E5-F20C-6C7FDBE123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4CBF7AB1-2D31-AC56-026B-7DB0A90E960C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5" name="Freeform 3">
            <a:extLst>
              <a:ext uri="{FF2B5EF4-FFF2-40B4-BE49-F238E27FC236}">
                <a16:creationId xmlns:a16="http://schemas.microsoft.com/office/drawing/2014/main" id="{F8F966E5-AF5D-3670-BF63-D2FBBF1E7EF9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6" name="Freeform 6">
            <a:extLst>
              <a:ext uri="{FF2B5EF4-FFF2-40B4-BE49-F238E27FC236}">
                <a16:creationId xmlns:a16="http://schemas.microsoft.com/office/drawing/2014/main" id="{85891376-733F-E637-C37B-B16F6A905077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96CC-9D38-7FDB-E797-19B38F3F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8729D9D5-B468-289D-265A-5326B0805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5886" y="-653841"/>
            <a:ext cx="13452686" cy="11212370"/>
          </a:xfrm>
          <a:prstGeom prst="rect">
            <a:avLst/>
          </a:prstGeom>
          <a:noFill/>
          <a:effectLst>
            <a:softEdge rad="2413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6409C297-CBCF-30D5-15EA-42FD65092F0A}"/>
              </a:ext>
            </a:extLst>
          </p:cNvPr>
          <p:cNvGrpSpPr/>
          <p:nvPr/>
        </p:nvGrpSpPr>
        <p:grpSpPr>
          <a:xfrm>
            <a:off x="12330420" y="11955946"/>
            <a:ext cx="2064919" cy="2064919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C116F7F-21ED-DF2E-7128-CDBB3F0B1D6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B26669B-9D9E-89F7-AB7A-63DA9AFD0E23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6C686FE-908C-A5C8-2C7A-411142D6200D}"/>
              </a:ext>
            </a:extLst>
          </p:cNvPr>
          <p:cNvSpPr/>
          <p:nvPr/>
        </p:nvSpPr>
        <p:spPr>
          <a:xfrm>
            <a:off x="14868033" y="407463"/>
            <a:ext cx="621237" cy="621237"/>
          </a:xfrm>
          <a:custGeom>
            <a:avLst/>
            <a:gdLst/>
            <a:ahLst/>
            <a:cxnLst/>
            <a:rect l="l" t="t" r="r" b="b"/>
            <a:pathLst>
              <a:path w="621237" h="621237">
                <a:moveTo>
                  <a:pt x="0" y="0"/>
                </a:moveTo>
                <a:lnTo>
                  <a:pt x="621237" y="0"/>
                </a:lnTo>
                <a:lnTo>
                  <a:pt x="621237" y="621237"/>
                </a:lnTo>
                <a:lnTo>
                  <a:pt x="0" y="621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98197D1-6861-17F1-61D3-BB348B04C56E}"/>
              </a:ext>
            </a:extLst>
          </p:cNvPr>
          <p:cNvSpPr/>
          <p:nvPr/>
        </p:nvSpPr>
        <p:spPr>
          <a:xfrm>
            <a:off x="12150741" y="5820009"/>
            <a:ext cx="692117" cy="692117"/>
          </a:xfrm>
          <a:custGeom>
            <a:avLst/>
            <a:gdLst/>
            <a:ahLst/>
            <a:cxnLst/>
            <a:rect l="l" t="t" r="r" b="b"/>
            <a:pathLst>
              <a:path w="692117" h="692117">
                <a:moveTo>
                  <a:pt x="0" y="0"/>
                </a:moveTo>
                <a:lnTo>
                  <a:pt x="692117" y="0"/>
                </a:lnTo>
                <a:lnTo>
                  <a:pt x="692117" y="692117"/>
                </a:lnTo>
                <a:lnTo>
                  <a:pt x="0" y="692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4061BFC-CE6C-57F1-B714-E771D43E2923}"/>
              </a:ext>
            </a:extLst>
          </p:cNvPr>
          <p:cNvSpPr txBox="1"/>
          <p:nvPr/>
        </p:nvSpPr>
        <p:spPr>
          <a:xfrm>
            <a:off x="8974150" y="2228868"/>
            <a:ext cx="8724900" cy="1290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51"/>
              </a:lnSpc>
            </a:pPr>
            <a:r>
              <a:rPr lang="en-US" sz="16600" dirty="0">
                <a:solidFill>
                  <a:srgbClr val="2A566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Next Steps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60CACAE-BB9E-1490-05C4-BF57AD5E04C0}"/>
              </a:ext>
            </a:extLst>
          </p:cNvPr>
          <p:cNvGrpSpPr/>
          <p:nvPr/>
        </p:nvGrpSpPr>
        <p:grpSpPr>
          <a:xfrm>
            <a:off x="13490786" y="3726438"/>
            <a:ext cx="2965027" cy="1613448"/>
            <a:chOff x="0" y="0"/>
            <a:chExt cx="17830800" cy="9702800"/>
          </a:xfrm>
        </p:grpSpPr>
        <p:sp>
          <p:nvSpPr>
            <p:cNvPr id="19" name="Freeform 19" descr=" Grand App Ai">
              <a:extLst>
                <a:ext uri="{FF2B5EF4-FFF2-40B4-BE49-F238E27FC236}">
                  <a16:creationId xmlns:a16="http://schemas.microsoft.com/office/drawing/2014/main" id="{3381D59B-2ECA-4761-4E67-ECFA63B2D781}"/>
                </a:ext>
              </a:extLst>
            </p:cNvPr>
            <p:cNvSpPr/>
            <p:nvPr/>
          </p:nvSpPr>
          <p:spPr>
            <a:xfrm>
              <a:off x="0" y="0"/>
              <a:ext cx="17830800" cy="9702800"/>
            </a:xfrm>
            <a:custGeom>
              <a:avLst/>
              <a:gdLst/>
              <a:ahLst/>
              <a:cxnLst/>
              <a:rect l="l" t="t" r="r" b="b"/>
              <a:pathLst>
                <a:path w="17830800" h="9702800">
                  <a:moveTo>
                    <a:pt x="0" y="0"/>
                  </a:moveTo>
                  <a:lnTo>
                    <a:pt x="17830800" y="0"/>
                  </a:lnTo>
                  <a:lnTo>
                    <a:pt x="17830800" y="9702800"/>
                  </a:lnTo>
                  <a:lnTo>
                    <a:pt x="0" y="970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15483BB-78D0-2459-F35F-EEA35B587D51}"/>
              </a:ext>
            </a:extLst>
          </p:cNvPr>
          <p:cNvSpPr txBox="1"/>
          <p:nvPr/>
        </p:nvSpPr>
        <p:spPr>
          <a:xfrm>
            <a:off x="8653931" y="5813255"/>
            <a:ext cx="8508900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6"/>
              </a:lnSpc>
            </a:pPr>
            <a:r>
              <a:rPr lang="en-US" sz="5343" b="1" dirty="0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TalkAssist       </a:t>
            </a:r>
            <a:r>
              <a:rPr lang="en-US" sz="5343" b="1" dirty="0" err="1">
                <a:solidFill>
                  <a:srgbClr val="2A566A"/>
                </a:solidFill>
                <a:latin typeface="Karma Bold"/>
                <a:ea typeface="Karma Bold"/>
                <a:cs typeface="Karma Bold"/>
                <a:sym typeface="Karma Bold"/>
              </a:rPr>
              <a:t>CareAssist</a:t>
            </a:r>
            <a:endParaRPr lang="en-US" sz="5343" b="1" dirty="0">
              <a:solidFill>
                <a:srgbClr val="2A566A"/>
              </a:solidFill>
              <a:latin typeface="Karma Bold"/>
              <a:ea typeface="Karma Bold"/>
              <a:cs typeface="Karma Bold"/>
              <a:sym typeface="Karma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83BBBC1-62BD-F25B-7FA1-552B7198212A}"/>
              </a:ext>
            </a:extLst>
          </p:cNvPr>
          <p:cNvSpPr txBox="1"/>
          <p:nvPr/>
        </p:nvSpPr>
        <p:spPr>
          <a:xfrm>
            <a:off x="13009837" y="7129385"/>
            <a:ext cx="9400510" cy="342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ts val="4387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Demonstrations</a:t>
            </a:r>
          </a:p>
          <a:p>
            <a:pPr marL="685800" indent="-685800" algn="l">
              <a:lnSpc>
                <a:spcPts val="4387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Referrals</a:t>
            </a:r>
          </a:p>
          <a:p>
            <a:pPr marL="685800" indent="-685800" algn="l">
              <a:lnSpc>
                <a:spcPts val="4387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2A566A"/>
                </a:solidFill>
                <a:latin typeface="Karma"/>
                <a:ea typeface="Karma"/>
                <a:cs typeface="Karma"/>
                <a:sym typeface="Karma"/>
              </a:rPr>
              <a:t>Installations</a:t>
            </a:r>
          </a:p>
          <a:p>
            <a:pPr algn="l">
              <a:lnSpc>
                <a:spcPts val="4387"/>
              </a:lnSpc>
            </a:pPr>
            <a:endParaRPr lang="en-US" sz="4800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  <a:p>
            <a:pPr algn="l">
              <a:lnSpc>
                <a:spcPts val="4387"/>
              </a:lnSpc>
            </a:pPr>
            <a:endParaRPr lang="en-US" sz="4800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  <a:p>
            <a:pPr algn="l">
              <a:lnSpc>
                <a:spcPts val="4387"/>
              </a:lnSpc>
            </a:pPr>
            <a:endParaRPr lang="en-US" sz="4800" dirty="0">
              <a:solidFill>
                <a:srgbClr val="2A566A"/>
              </a:solidFill>
              <a:latin typeface="Karma"/>
              <a:ea typeface="Karma"/>
              <a:cs typeface="Karma"/>
              <a:sym typeface="Karma"/>
            </a:endParaRPr>
          </a:p>
        </p:txBody>
      </p:sp>
      <p:grpSp>
        <p:nvGrpSpPr>
          <p:cNvPr id="22" name="Group 5">
            <a:extLst>
              <a:ext uri="{FF2B5EF4-FFF2-40B4-BE49-F238E27FC236}">
                <a16:creationId xmlns:a16="http://schemas.microsoft.com/office/drawing/2014/main" id="{9698A5F6-162A-2E92-6917-3946FE19381B}"/>
              </a:ext>
            </a:extLst>
          </p:cNvPr>
          <p:cNvGrpSpPr/>
          <p:nvPr/>
        </p:nvGrpSpPr>
        <p:grpSpPr>
          <a:xfrm>
            <a:off x="3174400" y="798292"/>
            <a:ext cx="3556154" cy="3200401"/>
            <a:chOff x="0" y="632356"/>
            <a:chExt cx="570826" cy="545092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0495D2C1-FA96-2521-850A-B63CD3EF2A51}"/>
                </a:ext>
              </a:extLst>
            </p:cNvPr>
            <p:cNvSpPr/>
            <p:nvPr/>
          </p:nvSpPr>
          <p:spPr>
            <a:xfrm>
              <a:off x="0" y="632356"/>
              <a:ext cx="570826" cy="545092"/>
            </a:xfrm>
            <a:custGeom>
              <a:avLst/>
              <a:gdLst/>
              <a:ahLst/>
              <a:cxnLst/>
              <a:rect l="l" t="t" r="r" b="b"/>
              <a:pathLst>
                <a:path w="1561939" h="1274980">
                  <a:moveTo>
                    <a:pt x="149671" y="0"/>
                  </a:moveTo>
                  <a:lnTo>
                    <a:pt x="1412268" y="0"/>
                  </a:lnTo>
                  <a:cubicBezTo>
                    <a:pt x="1451963" y="0"/>
                    <a:pt x="1490032" y="15769"/>
                    <a:pt x="1518101" y="43838"/>
                  </a:cubicBezTo>
                  <a:cubicBezTo>
                    <a:pt x="1546170" y="71907"/>
                    <a:pt x="1561939" y="109976"/>
                    <a:pt x="1561939" y="149671"/>
                  </a:cubicBezTo>
                  <a:lnTo>
                    <a:pt x="1561939" y="1125309"/>
                  </a:lnTo>
                  <a:cubicBezTo>
                    <a:pt x="1561939" y="1207970"/>
                    <a:pt x="1494929" y="1274980"/>
                    <a:pt x="1412268" y="1274980"/>
                  </a:cubicBezTo>
                  <a:lnTo>
                    <a:pt x="149671" y="1274980"/>
                  </a:lnTo>
                  <a:cubicBezTo>
                    <a:pt x="67010" y="1274980"/>
                    <a:pt x="0" y="1207970"/>
                    <a:pt x="0" y="1125309"/>
                  </a:cubicBezTo>
                  <a:lnTo>
                    <a:pt x="0" y="149671"/>
                  </a:lnTo>
                  <a:cubicBezTo>
                    <a:pt x="0" y="67010"/>
                    <a:pt x="67010" y="0"/>
                    <a:pt x="149671" y="0"/>
                  </a:cubicBezTo>
                  <a:close/>
                </a:path>
              </a:pathLst>
            </a:custGeom>
            <a:blipFill>
              <a:blip r:embed="rId8"/>
              <a:stretch>
                <a:fillRect l="-30704" t="-116010" r="-204332" b="-178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8" name="Freeform 13">
            <a:extLst>
              <a:ext uri="{FF2B5EF4-FFF2-40B4-BE49-F238E27FC236}">
                <a16:creationId xmlns:a16="http://schemas.microsoft.com/office/drawing/2014/main" id="{680E5D60-DC46-5870-4A76-9EEFFBC14605}"/>
              </a:ext>
            </a:extLst>
          </p:cNvPr>
          <p:cNvSpPr/>
          <p:nvPr/>
        </p:nvSpPr>
        <p:spPr>
          <a:xfrm>
            <a:off x="16417713" y="11806982"/>
            <a:ext cx="4791787" cy="479178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9578671-BD7C-4B28-78EC-765D9478FEB4}"/>
              </a:ext>
            </a:extLst>
          </p:cNvPr>
          <p:cNvSpPr/>
          <p:nvPr/>
        </p:nvSpPr>
        <p:spPr>
          <a:xfrm>
            <a:off x="6730554" y="12596635"/>
            <a:ext cx="3003835" cy="300383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9B5E91-0066-D07B-747B-251EEA70293A}"/>
              </a:ext>
            </a:extLst>
          </p:cNvPr>
          <p:cNvGrpSpPr/>
          <p:nvPr/>
        </p:nvGrpSpPr>
        <p:grpSpPr>
          <a:xfrm>
            <a:off x="1082426" y="14884579"/>
            <a:ext cx="2658063" cy="2658063"/>
            <a:chOff x="0" y="0"/>
            <a:chExt cx="812800" cy="812800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0640A474-AE6C-C62E-28A5-89C1B6D7B0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B62392A0-6446-D21F-32FF-EFC536F8DD6A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26" name="Freeform 3">
            <a:extLst>
              <a:ext uri="{FF2B5EF4-FFF2-40B4-BE49-F238E27FC236}">
                <a16:creationId xmlns:a16="http://schemas.microsoft.com/office/drawing/2014/main" id="{074A0657-79C4-B079-7CAE-675178A1B906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8AE83A1C-78C2-4CE9-4C89-8B461D6DACEB}"/>
              </a:ext>
            </a:extLst>
          </p:cNvPr>
          <p:cNvSpPr/>
          <p:nvPr/>
        </p:nvSpPr>
        <p:spPr>
          <a:xfrm>
            <a:off x="-17379183" y="-4314545"/>
            <a:ext cx="16220136" cy="1563442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AAEC2"/>
          </a:solidFill>
          <a:effectLst/>
          <a:scene3d>
            <a:camera prst="orthographicFront"/>
            <a:lightRig rig="contrasting" dir="t"/>
          </a:scene3d>
          <a:sp3d prstMaterial="softEdge">
            <a:bevelT w="196850" h="152400" prst="angle"/>
          </a:sp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9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Freeform 13">
            <a:extLst>
              <a:ext uri="{FF2B5EF4-FFF2-40B4-BE49-F238E27FC236}">
                <a16:creationId xmlns:a16="http://schemas.microsoft.com/office/drawing/2014/main" id="{D1C5EDD8-2F24-F580-B6D0-EF9A38409B23}"/>
              </a:ext>
            </a:extLst>
          </p:cNvPr>
          <p:cNvSpPr/>
          <p:nvPr/>
        </p:nvSpPr>
        <p:spPr>
          <a:xfrm>
            <a:off x="-419100" y="-3588480"/>
            <a:ext cx="19126200" cy="1746396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D8B5E-9342-9E98-10F7-838E6C8F59B6}"/>
              </a:ext>
            </a:extLst>
          </p:cNvPr>
          <p:cNvSpPr txBox="1"/>
          <p:nvPr/>
        </p:nvSpPr>
        <p:spPr>
          <a:xfrm>
            <a:off x="2209800" y="455355"/>
            <a:ext cx="9877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Aptos Display" panose="020B0004020202020204" pitchFamily="34" charset="0"/>
                <a:cs typeface="Aharoni" panose="020F0502020204030204" pitchFamily="2" charset="-79"/>
              </a:rPr>
              <a:t>Take the First Step</a:t>
            </a:r>
          </a:p>
          <a:p>
            <a:r>
              <a:rPr lang="en-US" sz="8000" b="1" dirty="0">
                <a:latin typeface="Aptos Display" panose="020B0004020202020204" pitchFamily="34" charset="0"/>
                <a:cs typeface="Aharoni" panose="020F0502020204030204" pitchFamily="2" charset="-79"/>
              </a:rPr>
              <a:t>Toward Smarter Care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C8A02-BEA6-FC04-C315-FBC665B7FF19}"/>
              </a:ext>
            </a:extLst>
          </p:cNvPr>
          <p:cNvSpPr txBox="1"/>
          <p:nvPr/>
        </p:nvSpPr>
        <p:spPr>
          <a:xfrm>
            <a:off x="2926484" y="5609853"/>
            <a:ext cx="4907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ptos Display" panose="020B0004020202020204" pitchFamily="34" charset="0"/>
              </a:rPr>
              <a:t>Phone</a:t>
            </a:r>
            <a:r>
              <a:rPr lang="en-US" sz="3200" dirty="0">
                <a:latin typeface="Aptos Display" panose="020B0004020202020204" pitchFamily="34" charset="0"/>
              </a:rPr>
              <a:t>: (469) 873-3194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F61AE-7496-F521-1846-339D18D9C31F}"/>
              </a:ext>
            </a:extLst>
          </p:cNvPr>
          <p:cNvSpPr txBox="1"/>
          <p:nvPr/>
        </p:nvSpPr>
        <p:spPr>
          <a:xfrm>
            <a:off x="2839401" y="4770486"/>
            <a:ext cx="6248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latin typeface="Aptos Display" panose="020B0004020202020204" pitchFamily="34" charset="0"/>
                <a:cs typeface="Aharoni" panose="020F0502020204030204" pitchFamily="2" charset="-79"/>
              </a:defRPr>
            </a:lvl1pPr>
          </a:lstStyle>
          <a:p>
            <a:r>
              <a:rPr lang="en-US" sz="4800" dirty="0"/>
              <a:t>Laura Ferring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ADFCE-1585-1E70-7FE0-50EF8CA88803}"/>
              </a:ext>
            </a:extLst>
          </p:cNvPr>
          <p:cNvSpPr txBox="1"/>
          <p:nvPr/>
        </p:nvSpPr>
        <p:spPr>
          <a:xfrm>
            <a:off x="6444343" y="9379074"/>
            <a:ext cx="7043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Locally Owned &amp; Operated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49C90-4DD4-AD07-F933-F08189169BCD}"/>
              </a:ext>
            </a:extLst>
          </p:cNvPr>
          <p:cNvSpPr txBox="1"/>
          <p:nvPr/>
        </p:nvSpPr>
        <p:spPr>
          <a:xfrm>
            <a:off x="2926484" y="6824581"/>
            <a:ext cx="53576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ptos Display" panose="020B0004020202020204" pitchFamily="34" charset="0"/>
              </a:rPr>
              <a:t>Address: </a:t>
            </a:r>
            <a:r>
              <a:rPr lang="en-US" sz="3200" dirty="0">
                <a:latin typeface="Aptos Display" panose="020B0004020202020204" pitchFamily="34" charset="0"/>
              </a:rPr>
              <a:t>4630 Long Prairie Rd</a:t>
            </a:r>
          </a:p>
          <a:p>
            <a:r>
              <a:rPr lang="en-US" sz="3200" dirty="0">
                <a:latin typeface="Aptos Display" panose="020B0004020202020204" pitchFamily="34" charset="0"/>
              </a:rPr>
              <a:t>Flower Mound, TX 75028</a:t>
            </a:r>
          </a:p>
          <a:p>
            <a:r>
              <a:rPr lang="en-US" sz="3200" dirty="0">
                <a:latin typeface="Aptos Display" panose="020B0004020202020204" pitchFamily="34" charset="0"/>
              </a:rPr>
              <a:t>(Offices located inside the GEICO office)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04DB45-C308-BF50-4AFC-92E18703E553}"/>
              </a:ext>
            </a:extLst>
          </p:cNvPr>
          <p:cNvSpPr txBox="1"/>
          <p:nvPr/>
        </p:nvSpPr>
        <p:spPr>
          <a:xfrm>
            <a:off x="2926483" y="6184441"/>
            <a:ext cx="6876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tx2"/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sz="3200" dirty="0"/>
              <a:t>Email: </a:t>
            </a:r>
            <a:r>
              <a:rPr lang="en-US" sz="3200" b="0" dirty="0">
                <a:solidFill>
                  <a:schemeClr val="tx1"/>
                </a:solidFill>
              </a:rPr>
              <a:t>laura@seniormatics.ai</a:t>
            </a:r>
          </a:p>
        </p:txBody>
      </p:sp>
      <p:sp>
        <p:nvSpPr>
          <p:cNvPr id="55" name="TextBox 4">
            <a:extLst>
              <a:ext uri="{FF2B5EF4-FFF2-40B4-BE49-F238E27FC236}">
                <a16:creationId xmlns:a16="http://schemas.microsoft.com/office/drawing/2014/main" id="{5C4213E6-680E-3B7A-2A31-C6F424CFDB70}"/>
              </a:ext>
            </a:extLst>
          </p:cNvPr>
          <p:cNvSpPr txBox="1"/>
          <p:nvPr/>
        </p:nvSpPr>
        <p:spPr>
          <a:xfrm>
            <a:off x="16413177" y="8164322"/>
            <a:ext cx="2242730" cy="221038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99"/>
              </a:lnSpc>
            </a:pPr>
            <a:endParaRPr/>
          </a:p>
        </p:txBody>
      </p:sp>
      <p:sp useBgFill="1">
        <p:nvSpPr>
          <p:cNvPr id="63" name="Freeform 13">
            <a:extLst>
              <a:ext uri="{FF2B5EF4-FFF2-40B4-BE49-F238E27FC236}">
                <a16:creationId xmlns:a16="http://schemas.microsoft.com/office/drawing/2014/main" id="{A1C477DB-E5A2-02CD-763F-4DAA5D000273}"/>
              </a:ext>
            </a:extLst>
          </p:cNvPr>
          <p:cNvSpPr/>
          <p:nvPr/>
        </p:nvSpPr>
        <p:spPr>
          <a:xfrm flipH="1">
            <a:off x="-1447039" y="-6313543"/>
            <a:ext cx="2094739" cy="209473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contrasting" dir="t"/>
          </a:scene3d>
          <a:sp3d prstMaterial="dkEdge">
            <a:bevelT w="196850" h="152400" prst="riblet"/>
          </a:sp3d>
        </p:spPr>
        <p:txBody>
          <a:bodyPr/>
          <a:lstStyle/>
          <a:p>
            <a:endParaRPr lang="en-US"/>
          </a:p>
        </p:txBody>
      </p:sp>
      <p:grpSp>
        <p:nvGrpSpPr>
          <p:cNvPr id="64" name="Group 10">
            <a:extLst>
              <a:ext uri="{FF2B5EF4-FFF2-40B4-BE49-F238E27FC236}">
                <a16:creationId xmlns:a16="http://schemas.microsoft.com/office/drawing/2014/main" id="{E2301DB4-084A-BB94-0376-427B16C51FB4}"/>
              </a:ext>
            </a:extLst>
          </p:cNvPr>
          <p:cNvGrpSpPr/>
          <p:nvPr/>
        </p:nvGrpSpPr>
        <p:grpSpPr>
          <a:xfrm>
            <a:off x="1082426" y="14884579"/>
            <a:ext cx="2658063" cy="2658063"/>
            <a:chOff x="0" y="0"/>
            <a:chExt cx="812800" cy="812800"/>
          </a:xfrm>
        </p:grpSpPr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F3A9E26C-7C2D-1E9C-5F45-0BB70A0EAF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66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12">
              <a:extLst>
                <a:ext uri="{FF2B5EF4-FFF2-40B4-BE49-F238E27FC236}">
                  <a16:creationId xmlns:a16="http://schemas.microsoft.com/office/drawing/2014/main" id="{D39EE12D-7F50-2FA4-61D8-E8B4DDB84D0B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endParaRPr/>
            </a:p>
          </p:txBody>
        </p:sp>
      </p:grpSp>
      <p:sp>
        <p:nvSpPr>
          <p:cNvPr id="67" name="Freeform 3">
            <a:extLst>
              <a:ext uri="{FF2B5EF4-FFF2-40B4-BE49-F238E27FC236}">
                <a16:creationId xmlns:a16="http://schemas.microsoft.com/office/drawing/2014/main" id="{23DD06A4-5B2F-ABDA-7522-9D0A40AA3C95}"/>
              </a:ext>
            </a:extLst>
          </p:cNvPr>
          <p:cNvSpPr/>
          <p:nvPr/>
        </p:nvSpPr>
        <p:spPr>
          <a:xfrm>
            <a:off x="15830147" y="-8323502"/>
            <a:ext cx="4915706" cy="491570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A566A"/>
          </a:solidFill>
          <a:effectLst>
            <a:glow rad="88900">
              <a:schemeClr val="accent1"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metal">
            <a:bevelT w="196850" h="152400"/>
          </a:sp3d>
        </p:spPr>
        <p:txBody>
          <a:bodyPr/>
          <a:lstStyle/>
          <a:p>
            <a:endParaRPr lang="en-US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187345F9-CE89-5C7D-545F-A42D4FED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6" y="2628900"/>
            <a:ext cx="9753259" cy="262772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5E56F2A-3DB5-2E18-EC4E-6E2B5F5D64BE}"/>
              </a:ext>
            </a:extLst>
          </p:cNvPr>
          <p:cNvGrpSpPr/>
          <p:nvPr/>
        </p:nvGrpSpPr>
        <p:grpSpPr>
          <a:xfrm>
            <a:off x="7696200" y="1780098"/>
            <a:ext cx="9906000" cy="7478202"/>
            <a:chOff x="6769344" y="1173757"/>
            <a:chExt cx="9906000" cy="747820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FC3E86-8417-4755-DB7B-BE0EC8F11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1544" y="1173757"/>
              <a:ext cx="7543800" cy="7478202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26BD42-A92F-7D27-B694-4C0896E3BF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8571" y="4134741"/>
              <a:ext cx="2101573" cy="3983818"/>
            </a:xfrm>
            <a:prstGeom prst="line">
              <a:avLst/>
            </a:prstGeom>
            <a:ln w="57150">
              <a:solidFill>
                <a:srgbClr val="FCDDC4"/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softEdge rad="12700"/>
            </a:effec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6D27C2-44FE-D333-D3D3-24B1717ED0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9344" y="8118559"/>
              <a:ext cx="5867400" cy="0"/>
            </a:xfrm>
            <a:prstGeom prst="line">
              <a:avLst/>
            </a:prstGeom>
            <a:ln w="57150">
              <a:solidFill>
                <a:srgbClr val="FCDDC4"/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softEdge rad="12700"/>
            </a:effec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818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446</Words>
  <Application>Microsoft Office PowerPoint</Application>
  <PresentationFormat>Custom</PresentationFormat>
  <Paragraphs>89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Karma Bold</vt:lpstr>
      <vt:lpstr>Arial</vt:lpstr>
      <vt:lpstr>Calibri</vt:lpstr>
      <vt:lpstr>Karma</vt:lpstr>
      <vt:lpstr>Bebas Neue Cyrillic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Safety and Monitoring for Older Adult Care</dc:title>
  <cp:lastModifiedBy>David Ferring</cp:lastModifiedBy>
  <cp:revision>4</cp:revision>
  <dcterms:created xsi:type="dcterms:W3CDTF">2006-08-16T00:00:00Z</dcterms:created>
  <dcterms:modified xsi:type="dcterms:W3CDTF">2026-04-08T22:27:10Z</dcterms:modified>
  <dc:identifier>DAHD8mK7lIs</dc:identifier>
</cp:coreProperties>
</file>